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ServeOS is a SaaS platform for restaurant owners and the teams serving their guests. This brief covers the current product and packages.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product is designed to connect restaurant discovery, ordering and daily operations. We make no quantified efficiency or revenue claims.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Guests can discover a restaurant and browse its image-rich digital menu. Table QR ordering connects the guest to the appropriate restaurant and table. Preview imagery comes from project demo assets.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Restaurant owners and admins create staff accounts with specific roles. Modules and capacity depend on the subscription, role and active add-ons.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ServeOS AI supports automatic replies and reviewed drafts using an editable platform knowledge base. Human requests and unsupported issues can be handed to the support team. Gemini service availability is required. Platform admins control tenants, packages, payment review, themes, domains and AI settings.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Prices were checked against the local public package catalog on 14 October 2026. Amounts are totals for the stated term, not monthly equivalents. The seven-day trial applies to new restaurants. Prices and features are editable by platform administrators.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free trial, set up the restaurant menu and staff, then test the guest ordering experience. ServeOS is the product name; the demo remains a local application rather than a publicly hosted deployment.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5486400" cy="256032"/>
          </a:xfrm>
          <a:prstGeom prst="rect">
            <a:avLst/>
          </a:prstGeom>
          <a:noFill/>
        </p:spPr>
        <p:txBody>
          <a:bodyPr wrap="none" lIns="0" rIns="0" tIns="0" bIns="0">
            <a:spAutoFit/>
          </a:bodyPr>
          <a:lstStyle/>
          <a:p>
            <a:pPr>
              <a:lnSpc>
                <a:spcPct val="112000"/>
              </a:lnSpc>
              <a:spcAft>
                <a:spcPts val="0"/>
              </a:spcAft>
              <a:defRPr sz="1600" b="1">
                <a:solidFill>
                  <a:srgbClr val="F5F7FB"/>
                </a:solidFill>
                <a:latin typeface="Arial"/>
              </a:defRPr>
            </a:pPr>
            <a:r>
              <a:t>ServeOS</a:t>
            </a:r>
          </a:p>
        </p:txBody>
      </p:sp>
      <p:sp>
        <p:nvSpPr>
          <p:cNvPr id="4" name="TextBox 3"/>
          <p:cNvSpPr txBox="1"/>
          <p:nvPr/>
        </p:nvSpPr>
        <p:spPr>
          <a:xfrm>
            <a:off x="594360" y="6382512"/>
            <a:ext cx="9144000" cy="182880"/>
          </a:xfrm>
          <a:prstGeom prst="rect">
            <a:avLst/>
          </a:prstGeom>
          <a:noFill/>
        </p:spPr>
        <p:txBody>
          <a:bodyPr wrap="none" lIns="0" rIns="0" tIns="0" bIns="0">
            <a:spAutoFit/>
          </a:bodyPr>
          <a:lstStyle/>
          <a:p>
            <a:pPr>
              <a:lnSpc>
                <a:spcPct val="112000"/>
              </a:lnSpc>
              <a:spcAft>
                <a:spcPts val="0"/>
              </a:spcAft>
              <a:defRPr sz="800" b="0">
                <a:solidFill>
                  <a:srgbClr val="B9C3D4"/>
                </a:solidFill>
                <a:latin typeface="Arial"/>
              </a:defRPr>
            </a:pPr>
            <a:r>
              <a:t>PRODUCT BRIEF  /  14 OCT 2026</a:t>
            </a:r>
          </a:p>
        </p:txBody>
      </p:sp>
      <p:sp>
        <p:nvSpPr>
          <p:cNvPr id="5" name="TextBox 4"/>
          <p:cNvSpPr txBox="1"/>
          <p:nvPr/>
        </p:nvSpPr>
        <p:spPr>
          <a:xfrm>
            <a:off x="10972800" y="6382512"/>
            <a:ext cx="640080" cy="182880"/>
          </a:xfrm>
          <a:prstGeom prst="rect">
            <a:avLst/>
          </a:prstGeom>
          <a:noFill/>
        </p:spPr>
        <p:txBody>
          <a:bodyPr wrap="none" lIns="0" rIns="0" tIns="0" bIns="0">
            <a:spAutoFit/>
          </a:bodyPr>
          <a:lstStyle/>
          <a:p>
            <a:pPr>
              <a:lnSpc>
                <a:spcPct val="112000"/>
              </a:lnSpc>
              <a:spcAft>
                <a:spcPts val="0"/>
              </a:spcAft>
              <a:defRPr sz="800" b="0">
                <a:solidFill>
                  <a:srgbClr val="B9C3D4"/>
                </a:solidFill>
                <a:latin typeface="Arial"/>
              </a:defRPr>
            </a:pPr>
            <a:r>
              <a:t>01 / 07</a:t>
            </a:r>
          </a:p>
        </p:txBody>
      </p:sp>
      <p:sp>
        <p:nvSpPr>
          <p:cNvPr id="6" name="Rectangle 5"/>
          <p:cNvSpPr/>
          <p:nvPr/>
        </p:nvSpPr>
        <p:spPr>
          <a:xfrm>
            <a:off x="594360" y="786384"/>
            <a:ext cx="411480" cy="32004"/>
          </a:xfrm>
          <a:prstGeom prst="rect">
            <a:avLst/>
          </a:prstGeom>
          <a:solidFill>
            <a:srgbClr val="FFB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05840"/>
            <a:ext cx="10058400" cy="228600"/>
          </a:xfrm>
          <a:prstGeom prst="rect">
            <a:avLst/>
          </a:prstGeom>
          <a:noFill/>
        </p:spPr>
        <p:txBody>
          <a:bodyPr wrap="none" lIns="0" rIns="0" tIns="0" bIns="0">
            <a:spAutoFit/>
          </a:bodyPr>
          <a:lstStyle/>
          <a:p>
            <a:pPr>
              <a:lnSpc>
                <a:spcPct val="112000"/>
              </a:lnSpc>
              <a:spcAft>
                <a:spcPts val="0"/>
              </a:spcAft>
              <a:defRPr sz="1000" b="1">
                <a:solidFill>
                  <a:srgbClr val="FFB021"/>
                </a:solidFill>
                <a:latin typeface="Arial"/>
              </a:defRPr>
            </a:pPr>
            <a:r>
              <a:t>RESTAURANT MANAGEMENT, CONNECTED</a:t>
            </a:r>
          </a:p>
        </p:txBody>
      </p:sp>
      <p:pic>
        <p:nvPicPr>
          <p:cNvPr id="8" name="cover-food" descr="cover-food.jpg"/>
          <p:cNvPicPr>
            <a:picLocks noChangeAspect="1"/>
          </p:cNvPicPr>
          <p:nvPr/>
        </p:nvPicPr>
        <p:blipFill>
          <a:blip r:embed="rId2"/>
          <a:stretch>
            <a:fillRect/>
          </a:stretch>
        </p:blipFill>
        <p:spPr>
          <a:xfrm>
            <a:off x="6876288" y="0"/>
            <a:ext cx="5321808" cy="6172200"/>
          </a:xfrm>
          <a:prstGeom prst="rect">
            <a:avLst/>
          </a:prstGeom>
        </p:spPr>
      </p:pic>
      <p:sp>
        <p:nvSpPr>
          <p:cNvPr id="9" name="Rectangle 8"/>
          <p:cNvSpPr/>
          <p:nvPr/>
        </p:nvSpPr>
        <p:spPr>
          <a:xfrm>
            <a:off x="6876288" y="5532120"/>
            <a:ext cx="5321808" cy="640080"/>
          </a:xfrm>
          <a:prstGeom prst="rect">
            <a:avLst/>
          </a:prstGeom>
          <a:solidFill>
            <a:srgbClr val="18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87184" y="5715000"/>
            <a:ext cx="4572000" cy="274320"/>
          </a:xfrm>
          <a:prstGeom prst="rect">
            <a:avLst/>
          </a:prstGeom>
          <a:noFill/>
        </p:spPr>
        <p:txBody>
          <a:bodyPr wrap="none" lIns="0" rIns="0" tIns="0" bIns="0">
            <a:spAutoFit/>
          </a:bodyPr>
          <a:lstStyle/>
          <a:p>
            <a:pPr>
              <a:lnSpc>
                <a:spcPct val="112000"/>
              </a:lnSpc>
              <a:spcAft>
                <a:spcPts val="0"/>
              </a:spcAft>
              <a:defRPr sz="1100" b="1">
                <a:solidFill>
                  <a:srgbClr val="FFB021"/>
                </a:solidFill>
                <a:latin typeface="Arial"/>
              </a:defRPr>
            </a:pPr>
            <a:r>
              <a:t>WEBSITE  •  ORDERS  •  OPERATIONS</a:t>
            </a:r>
          </a:p>
        </p:txBody>
      </p:sp>
      <p:sp>
        <p:nvSpPr>
          <p:cNvPr id="11" name="TextBox 10"/>
          <p:cNvSpPr txBox="1"/>
          <p:nvPr/>
        </p:nvSpPr>
        <p:spPr>
          <a:xfrm>
            <a:off x="594360" y="1554480"/>
            <a:ext cx="6035040" cy="2011680"/>
          </a:xfrm>
          <a:prstGeom prst="rect">
            <a:avLst/>
          </a:prstGeom>
          <a:noFill/>
        </p:spPr>
        <p:txBody>
          <a:bodyPr wrap="none" lIns="0" rIns="0" tIns="0" bIns="0">
            <a:spAutoFit/>
          </a:bodyPr>
          <a:lstStyle/>
          <a:p>
            <a:pPr>
              <a:lnSpc>
                <a:spcPct val="112000"/>
              </a:lnSpc>
              <a:spcAft>
                <a:spcPts val="0"/>
              </a:spcAft>
              <a:defRPr sz="4000" b="1">
                <a:solidFill>
                  <a:srgbClr val="F5F7FB"/>
                </a:solidFill>
                <a:latin typeface="Arial"/>
              </a:defRPr>
            </a:pPr>
            <a:r>
              <a:t>One platform.</a:t>
            </a:r>
          </a:p>
          <a:p>
            <a:pPr>
              <a:lnSpc>
                <a:spcPct val="112000"/>
              </a:lnSpc>
              <a:spcAft>
                <a:spcPts val="0"/>
              </a:spcAft>
              <a:defRPr sz="4000" b="1">
                <a:solidFill>
                  <a:srgbClr val="F5F7FB"/>
                </a:solidFill>
                <a:latin typeface="Arial"/>
              </a:defRPr>
            </a:pPr>
            <a:r>
              <a:t>Every restaurant</a:t>
            </a:r>
          </a:p>
          <a:p>
            <a:pPr>
              <a:lnSpc>
                <a:spcPct val="112000"/>
              </a:lnSpc>
              <a:spcAft>
                <a:spcPts val="0"/>
              </a:spcAft>
              <a:defRPr sz="4000" b="1">
                <a:solidFill>
                  <a:srgbClr val="F5F7FB"/>
                </a:solidFill>
                <a:latin typeface="Arial"/>
              </a:defRPr>
            </a:pPr>
            <a:r>
              <a:t>workflow.</a:t>
            </a:r>
          </a:p>
        </p:txBody>
      </p:sp>
      <p:sp>
        <p:nvSpPr>
          <p:cNvPr id="12" name="TextBox 11"/>
          <p:cNvSpPr txBox="1"/>
          <p:nvPr/>
        </p:nvSpPr>
        <p:spPr>
          <a:xfrm>
            <a:off x="594360" y="3767328"/>
            <a:ext cx="5715000" cy="914400"/>
          </a:xfrm>
          <a:prstGeom prst="rect">
            <a:avLst/>
          </a:prstGeom>
          <a:noFill/>
        </p:spPr>
        <p:txBody>
          <a:bodyPr wrap="none" lIns="0" rIns="0" tIns="0" bIns="0">
            <a:spAutoFit/>
          </a:bodyPr>
          <a:lstStyle/>
          <a:p>
            <a:pPr>
              <a:lnSpc>
                <a:spcPct val="112000"/>
              </a:lnSpc>
              <a:spcAft>
                <a:spcPts val="0"/>
              </a:spcAft>
              <a:defRPr sz="2100" b="0">
                <a:solidFill>
                  <a:srgbClr val="B9C3D4"/>
                </a:solidFill>
                <a:latin typeface="Arial"/>
              </a:defRPr>
            </a:pPr>
            <a:r>
              <a:t>Restaurant websites, QR ordering,</a:t>
            </a:r>
          </a:p>
          <a:p>
            <a:pPr>
              <a:lnSpc>
                <a:spcPct val="112000"/>
              </a:lnSpc>
              <a:spcAft>
                <a:spcPts val="0"/>
              </a:spcAft>
              <a:defRPr sz="2100" b="0">
                <a:solidFill>
                  <a:srgbClr val="B9C3D4"/>
                </a:solidFill>
                <a:latin typeface="Arial"/>
              </a:defRPr>
            </a:pPr>
            <a:r>
              <a:t>team workflows and AI support.</a:t>
            </a:r>
          </a:p>
        </p:txBody>
      </p:sp>
      <p:sp>
        <p:nvSpPr>
          <p:cNvPr id="13" name="Rounded Rectangle 12"/>
          <p:cNvSpPr/>
          <p:nvPr/>
        </p:nvSpPr>
        <p:spPr>
          <a:xfrm>
            <a:off x="594360" y="5129784"/>
            <a:ext cx="4480560" cy="585216"/>
          </a:xfrm>
          <a:prstGeom prst="roundRect">
            <a:avLst>
              <a:gd name="adj" fmla="val 12000"/>
            </a:avLst>
          </a:prstGeom>
          <a:solidFill>
            <a:srgbClr val="FFB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392" y="5303520"/>
            <a:ext cx="4069080" cy="274320"/>
          </a:xfrm>
          <a:prstGeom prst="rect">
            <a:avLst/>
          </a:prstGeom>
          <a:noFill/>
        </p:spPr>
        <p:txBody>
          <a:bodyPr wrap="none" lIns="0" rIns="0" tIns="0" bIns="0">
            <a:spAutoFit/>
          </a:bodyPr>
          <a:lstStyle/>
          <a:p>
            <a:pPr>
              <a:lnSpc>
                <a:spcPct val="112000"/>
              </a:lnSpc>
              <a:spcAft>
                <a:spcPts val="0"/>
              </a:spcAft>
              <a:defRPr sz="1700" b="1">
                <a:solidFill>
                  <a:srgbClr val="0D1424"/>
                </a:solidFill>
                <a:latin typeface="Arial"/>
              </a:defRPr>
            </a:pPr>
            <a:r>
              <a:t>Start with a 7-day free trial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5486400" cy="256032"/>
          </a:xfrm>
          <a:prstGeom prst="rect">
            <a:avLst/>
          </a:prstGeom>
          <a:noFill/>
        </p:spPr>
        <p:txBody>
          <a:bodyPr wrap="none" lIns="0" rIns="0" tIns="0" bIns="0">
            <a:spAutoFit/>
          </a:bodyPr>
          <a:lstStyle/>
          <a:p>
            <a:pPr>
              <a:lnSpc>
                <a:spcPct val="112000"/>
              </a:lnSpc>
              <a:spcAft>
                <a:spcPts val="0"/>
              </a:spcAft>
              <a:defRPr sz="1600" b="1">
                <a:solidFill>
                  <a:srgbClr val="F5F7FB"/>
                </a:solidFill>
                <a:latin typeface="Arial"/>
              </a:defRPr>
            </a:pPr>
            <a:r>
              <a:t>ServeOS</a:t>
            </a:r>
          </a:p>
        </p:txBody>
      </p:sp>
      <p:sp>
        <p:nvSpPr>
          <p:cNvPr id="4" name="TextBox 3"/>
          <p:cNvSpPr txBox="1"/>
          <p:nvPr/>
        </p:nvSpPr>
        <p:spPr>
          <a:xfrm>
            <a:off x="594360" y="6382512"/>
            <a:ext cx="9144000" cy="182880"/>
          </a:xfrm>
          <a:prstGeom prst="rect">
            <a:avLst/>
          </a:prstGeom>
          <a:noFill/>
        </p:spPr>
        <p:txBody>
          <a:bodyPr wrap="none" lIns="0" rIns="0" tIns="0" bIns="0">
            <a:spAutoFit/>
          </a:bodyPr>
          <a:lstStyle/>
          <a:p>
            <a:pPr>
              <a:lnSpc>
                <a:spcPct val="112000"/>
              </a:lnSpc>
              <a:spcAft>
                <a:spcPts val="0"/>
              </a:spcAft>
              <a:defRPr sz="800" b="0">
                <a:solidFill>
                  <a:srgbClr val="B9C3D4"/>
                </a:solidFill>
                <a:latin typeface="Arial"/>
              </a:defRPr>
            </a:pPr>
            <a:r>
              <a:t>PRODUCT BRIEF  /  14 OCT 2026</a:t>
            </a:r>
          </a:p>
        </p:txBody>
      </p:sp>
      <p:sp>
        <p:nvSpPr>
          <p:cNvPr id="5" name="TextBox 4"/>
          <p:cNvSpPr txBox="1"/>
          <p:nvPr/>
        </p:nvSpPr>
        <p:spPr>
          <a:xfrm>
            <a:off x="10972800" y="6382512"/>
            <a:ext cx="640080" cy="182880"/>
          </a:xfrm>
          <a:prstGeom prst="rect">
            <a:avLst/>
          </a:prstGeom>
          <a:noFill/>
        </p:spPr>
        <p:txBody>
          <a:bodyPr wrap="none" lIns="0" rIns="0" tIns="0" bIns="0">
            <a:spAutoFit/>
          </a:bodyPr>
          <a:lstStyle/>
          <a:p>
            <a:pPr>
              <a:lnSpc>
                <a:spcPct val="112000"/>
              </a:lnSpc>
              <a:spcAft>
                <a:spcPts val="0"/>
              </a:spcAft>
              <a:defRPr sz="800" b="0">
                <a:solidFill>
                  <a:srgbClr val="B9C3D4"/>
                </a:solidFill>
                <a:latin typeface="Arial"/>
              </a:defRPr>
            </a:pPr>
            <a:r>
              <a:t>02 / 07</a:t>
            </a:r>
          </a:p>
        </p:txBody>
      </p:sp>
      <p:sp>
        <p:nvSpPr>
          <p:cNvPr id="6" name="Rectangle 5"/>
          <p:cNvSpPr/>
          <p:nvPr/>
        </p:nvSpPr>
        <p:spPr>
          <a:xfrm>
            <a:off x="594360" y="786384"/>
            <a:ext cx="411480" cy="32004"/>
          </a:xfrm>
          <a:prstGeom prst="rect">
            <a:avLst/>
          </a:prstGeom>
          <a:solidFill>
            <a:srgbClr val="FFB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05840"/>
            <a:ext cx="10058400" cy="228600"/>
          </a:xfrm>
          <a:prstGeom prst="rect">
            <a:avLst/>
          </a:prstGeom>
          <a:noFill/>
        </p:spPr>
        <p:txBody>
          <a:bodyPr wrap="none" lIns="0" rIns="0" tIns="0" bIns="0">
            <a:spAutoFit/>
          </a:bodyPr>
          <a:lstStyle/>
          <a:p>
            <a:pPr>
              <a:lnSpc>
                <a:spcPct val="112000"/>
              </a:lnSpc>
              <a:spcAft>
                <a:spcPts val="0"/>
              </a:spcAft>
              <a:defRPr sz="1000" b="1">
                <a:solidFill>
                  <a:srgbClr val="FFB021"/>
                </a:solidFill>
                <a:latin typeface="Arial"/>
              </a:defRPr>
            </a:pPr>
            <a:r>
              <a:t>THE OPPORTUNITY</a:t>
            </a:r>
          </a:p>
        </p:txBody>
      </p:sp>
      <p:sp>
        <p:nvSpPr>
          <p:cNvPr id="8" name="TextBox 7"/>
          <p:cNvSpPr txBox="1"/>
          <p:nvPr/>
        </p:nvSpPr>
        <p:spPr>
          <a:xfrm>
            <a:off x="594360" y="1417320"/>
            <a:ext cx="10972800" cy="694944"/>
          </a:xfrm>
          <a:prstGeom prst="rect">
            <a:avLst/>
          </a:prstGeom>
          <a:noFill/>
        </p:spPr>
        <p:txBody>
          <a:bodyPr wrap="none" lIns="0" rIns="0" tIns="0" bIns="0">
            <a:spAutoFit/>
          </a:bodyPr>
          <a:lstStyle/>
          <a:p>
            <a:pPr>
              <a:lnSpc>
                <a:spcPct val="112000"/>
              </a:lnSpc>
              <a:spcAft>
                <a:spcPts val="0"/>
              </a:spcAft>
              <a:defRPr sz="3200" b="1">
                <a:solidFill>
                  <a:srgbClr val="F5F7FB"/>
                </a:solidFill>
                <a:latin typeface="Arial"/>
              </a:defRPr>
            </a:pPr>
            <a:r>
              <a:t>Bring scattered work into one flow.</a:t>
            </a:r>
          </a:p>
        </p:txBody>
      </p:sp>
      <p:sp>
        <p:nvSpPr>
          <p:cNvPr id="9" name="TextBox 8"/>
          <p:cNvSpPr txBox="1"/>
          <p:nvPr/>
        </p:nvSpPr>
        <p:spPr>
          <a:xfrm>
            <a:off x="594360" y="2121408"/>
            <a:ext cx="10972800" cy="457200"/>
          </a:xfrm>
          <a:prstGeom prst="rect">
            <a:avLst/>
          </a:prstGeom>
          <a:noFill/>
        </p:spPr>
        <p:txBody>
          <a:bodyPr wrap="none" lIns="0" rIns="0" tIns="0" bIns="0">
            <a:spAutoFit/>
          </a:bodyPr>
          <a:lstStyle/>
          <a:p>
            <a:pPr>
              <a:lnSpc>
                <a:spcPct val="112000"/>
              </a:lnSpc>
              <a:spcAft>
                <a:spcPts val="0"/>
              </a:spcAft>
              <a:defRPr sz="1600" b="0">
                <a:solidFill>
                  <a:srgbClr val="B9C3D4"/>
                </a:solidFill>
                <a:latin typeface="Arial"/>
              </a:defRPr>
            </a:pPr>
            <a:r>
              <a:t>A connected experience for the guest, the restaurant team and the platform operator.</a:t>
            </a:r>
          </a:p>
        </p:txBody>
      </p:sp>
      <p:sp>
        <p:nvSpPr>
          <p:cNvPr id="10" name="Rounded Rectangle 9"/>
          <p:cNvSpPr/>
          <p:nvPr/>
        </p:nvSpPr>
        <p:spPr>
          <a:xfrm>
            <a:off x="594360" y="2871216"/>
            <a:ext cx="3547872" cy="2286000"/>
          </a:xfrm>
          <a:prstGeom prst="roundRect">
            <a:avLst>
              <a:gd name="adj" fmla="val 12000"/>
            </a:avLst>
          </a:prstGeom>
          <a:solidFill>
            <a:srgbClr val="18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3090672"/>
            <a:ext cx="3090672" cy="320040"/>
          </a:xfrm>
          <a:prstGeom prst="rect">
            <a:avLst/>
          </a:prstGeom>
          <a:noFill/>
        </p:spPr>
        <p:txBody>
          <a:bodyPr wrap="none" lIns="0" rIns="0" tIns="0" bIns="0">
            <a:spAutoFit/>
          </a:bodyPr>
          <a:lstStyle/>
          <a:p>
            <a:pPr>
              <a:lnSpc>
                <a:spcPct val="112000"/>
              </a:lnSpc>
              <a:spcAft>
                <a:spcPts val="0"/>
              </a:spcAft>
              <a:defRPr sz="1300" b="1">
                <a:solidFill>
                  <a:srgbClr val="FFB021"/>
                </a:solidFill>
                <a:latin typeface="Arial"/>
              </a:defRPr>
            </a:pPr>
            <a:r>
              <a:t>01 / DISCOVERY</a:t>
            </a:r>
          </a:p>
        </p:txBody>
      </p:sp>
      <p:sp>
        <p:nvSpPr>
          <p:cNvPr id="12" name="TextBox 11"/>
          <p:cNvSpPr txBox="1"/>
          <p:nvPr/>
        </p:nvSpPr>
        <p:spPr>
          <a:xfrm>
            <a:off x="822960" y="3584448"/>
            <a:ext cx="3090672" cy="548640"/>
          </a:xfrm>
          <a:prstGeom prst="rect">
            <a:avLst/>
          </a:prstGeom>
          <a:noFill/>
        </p:spPr>
        <p:txBody>
          <a:bodyPr wrap="none" lIns="0" rIns="0" tIns="0" bIns="0">
            <a:spAutoFit/>
          </a:bodyPr>
          <a:lstStyle/>
          <a:p>
            <a:pPr>
              <a:lnSpc>
                <a:spcPct val="112000"/>
              </a:lnSpc>
              <a:spcAft>
                <a:spcPts val="0"/>
              </a:spcAft>
              <a:defRPr sz="2000" b="1">
                <a:solidFill>
                  <a:srgbClr val="F5F7FB"/>
                </a:solidFill>
                <a:latin typeface="Arial"/>
              </a:defRPr>
            </a:pPr>
            <a:r>
              <a:t>Be visible online</a:t>
            </a:r>
          </a:p>
        </p:txBody>
      </p:sp>
      <p:sp>
        <p:nvSpPr>
          <p:cNvPr id="13" name="TextBox 12"/>
          <p:cNvSpPr txBox="1"/>
          <p:nvPr/>
        </p:nvSpPr>
        <p:spPr>
          <a:xfrm>
            <a:off x="822960" y="4197096"/>
            <a:ext cx="3090672" cy="822960"/>
          </a:xfrm>
          <a:prstGeom prst="rect">
            <a:avLst/>
          </a:prstGeom>
          <a:noFill/>
        </p:spPr>
        <p:txBody>
          <a:bodyPr wrap="none" lIns="0" rIns="0" tIns="0" bIns="0">
            <a:spAutoFit/>
          </a:bodyPr>
          <a:lstStyle/>
          <a:p>
            <a:pPr>
              <a:lnSpc>
                <a:spcPct val="112000"/>
              </a:lnSpc>
              <a:spcAft>
                <a:spcPts val="0"/>
              </a:spcAft>
              <a:defRPr sz="1500" b="0">
                <a:solidFill>
                  <a:srgbClr val="B9C3D4"/>
                </a:solidFill>
                <a:latin typeface="Arial"/>
              </a:defRPr>
            </a:pPr>
            <a:r>
              <a:t>Publish a restaurant website</a:t>
            </a:r>
          </a:p>
          <a:p>
            <a:pPr>
              <a:lnSpc>
                <a:spcPct val="112000"/>
              </a:lnSpc>
              <a:spcAft>
                <a:spcPts val="0"/>
              </a:spcAft>
              <a:defRPr sz="1500" b="0">
                <a:solidFill>
                  <a:srgbClr val="B9C3D4"/>
                </a:solidFill>
                <a:latin typeface="Arial"/>
              </a:defRPr>
            </a:pPr>
            <a:r>
              <a:t>and keep the digital menu</a:t>
            </a:r>
          </a:p>
          <a:p>
            <a:pPr>
              <a:lnSpc>
                <a:spcPct val="112000"/>
              </a:lnSpc>
              <a:spcAft>
                <a:spcPts val="0"/>
              </a:spcAft>
              <a:defRPr sz="1500" b="0">
                <a:solidFill>
                  <a:srgbClr val="B9C3D4"/>
                </a:solidFill>
                <a:latin typeface="Arial"/>
              </a:defRPr>
            </a:pPr>
            <a:r>
              <a:t>easy to browse.</a:t>
            </a:r>
          </a:p>
        </p:txBody>
      </p:sp>
      <p:sp>
        <p:nvSpPr>
          <p:cNvPr id="14" name="Rounded Rectangle 13"/>
          <p:cNvSpPr/>
          <p:nvPr/>
        </p:nvSpPr>
        <p:spPr>
          <a:xfrm>
            <a:off x="4325112" y="2871216"/>
            <a:ext cx="3547872" cy="2286000"/>
          </a:xfrm>
          <a:prstGeom prst="roundRect">
            <a:avLst>
              <a:gd name="adj" fmla="val 12000"/>
            </a:avLst>
          </a:prstGeom>
          <a:solidFill>
            <a:srgbClr val="18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53712" y="3090672"/>
            <a:ext cx="3090672" cy="320040"/>
          </a:xfrm>
          <a:prstGeom prst="rect">
            <a:avLst/>
          </a:prstGeom>
          <a:noFill/>
        </p:spPr>
        <p:txBody>
          <a:bodyPr wrap="none" lIns="0" rIns="0" tIns="0" bIns="0">
            <a:spAutoFit/>
          </a:bodyPr>
          <a:lstStyle/>
          <a:p>
            <a:pPr>
              <a:lnSpc>
                <a:spcPct val="112000"/>
              </a:lnSpc>
              <a:spcAft>
                <a:spcPts val="0"/>
              </a:spcAft>
              <a:defRPr sz="1300" b="1">
                <a:solidFill>
                  <a:srgbClr val="FFB021"/>
                </a:solidFill>
                <a:latin typeface="Arial"/>
              </a:defRPr>
            </a:pPr>
            <a:r>
              <a:t>02 / SERVICE</a:t>
            </a:r>
          </a:p>
        </p:txBody>
      </p:sp>
      <p:sp>
        <p:nvSpPr>
          <p:cNvPr id="16" name="TextBox 15"/>
          <p:cNvSpPr txBox="1"/>
          <p:nvPr/>
        </p:nvSpPr>
        <p:spPr>
          <a:xfrm>
            <a:off x="4553712" y="3584448"/>
            <a:ext cx="3090672" cy="548640"/>
          </a:xfrm>
          <a:prstGeom prst="rect">
            <a:avLst/>
          </a:prstGeom>
          <a:noFill/>
        </p:spPr>
        <p:txBody>
          <a:bodyPr wrap="none" lIns="0" rIns="0" tIns="0" bIns="0">
            <a:spAutoFit/>
          </a:bodyPr>
          <a:lstStyle/>
          <a:p>
            <a:pPr>
              <a:lnSpc>
                <a:spcPct val="112000"/>
              </a:lnSpc>
              <a:spcAft>
                <a:spcPts val="0"/>
              </a:spcAft>
              <a:defRPr sz="2000" b="1">
                <a:solidFill>
                  <a:srgbClr val="F5F7FB"/>
                </a:solidFill>
                <a:latin typeface="Arial"/>
              </a:defRPr>
            </a:pPr>
            <a:r>
              <a:t>Keep service moving</a:t>
            </a:r>
          </a:p>
        </p:txBody>
      </p:sp>
      <p:sp>
        <p:nvSpPr>
          <p:cNvPr id="17" name="TextBox 16"/>
          <p:cNvSpPr txBox="1"/>
          <p:nvPr/>
        </p:nvSpPr>
        <p:spPr>
          <a:xfrm>
            <a:off x="4553712" y="4197096"/>
            <a:ext cx="3090672" cy="822960"/>
          </a:xfrm>
          <a:prstGeom prst="rect">
            <a:avLst/>
          </a:prstGeom>
          <a:noFill/>
        </p:spPr>
        <p:txBody>
          <a:bodyPr wrap="none" lIns="0" rIns="0" tIns="0" bIns="0">
            <a:spAutoFit/>
          </a:bodyPr>
          <a:lstStyle/>
          <a:p>
            <a:pPr>
              <a:lnSpc>
                <a:spcPct val="112000"/>
              </a:lnSpc>
              <a:spcAft>
                <a:spcPts val="0"/>
              </a:spcAft>
              <a:defRPr sz="1500" b="0">
                <a:solidFill>
                  <a:srgbClr val="B9C3D4"/>
                </a:solidFill>
                <a:latin typeface="Arial"/>
              </a:defRPr>
            </a:pPr>
            <a:r>
              <a:t>Connect table ordering,</a:t>
            </a:r>
          </a:p>
          <a:p>
            <a:pPr>
              <a:lnSpc>
                <a:spcPct val="112000"/>
              </a:lnSpc>
              <a:spcAft>
                <a:spcPts val="0"/>
              </a:spcAft>
              <a:defRPr sz="1500" b="0">
                <a:solidFill>
                  <a:srgbClr val="B9C3D4"/>
                </a:solidFill>
                <a:latin typeface="Arial"/>
              </a:defRPr>
            </a:pPr>
            <a:r>
              <a:t>waiter service and</a:t>
            </a:r>
          </a:p>
          <a:p>
            <a:pPr>
              <a:lnSpc>
                <a:spcPct val="112000"/>
              </a:lnSpc>
              <a:spcAft>
                <a:spcPts val="0"/>
              </a:spcAft>
              <a:defRPr sz="1500" b="0">
                <a:solidFill>
                  <a:srgbClr val="B9C3D4"/>
                </a:solidFill>
                <a:latin typeface="Arial"/>
              </a:defRPr>
            </a:pPr>
            <a:r>
              <a:t>kitchen tickets.</a:t>
            </a:r>
          </a:p>
        </p:txBody>
      </p:sp>
      <p:sp>
        <p:nvSpPr>
          <p:cNvPr id="18" name="Rounded Rectangle 17"/>
          <p:cNvSpPr/>
          <p:nvPr/>
        </p:nvSpPr>
        <p:spPr>
          <a:xfrm>
            <a:off x="8055864" y="2871216"/>
            <a:ext cx="3538728" cy="2286000"/>
          </a:xfrm>
          <a:prstGeom prst="roundRect">
            <a:avLst>
              <a:gd name="adj" fmla="val 12000"/>
            </a:avLst>
          </a:prstGeom>
          <a:solidFill>
            <a:srgbClr val="18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84464" y="3090672"/>
            <a:ext cx="3081528" cy="320040"/>
          </a:xfrm>
          <a:prstGeom prst="rect">
            <a:avLst/>
          </a:prstGeom>
          <a:noFill/>
        </p:spPr>
        <p:txBody>
          <a:bodyPr wrap="none" lIns="0" rIns="0" tIns="0" bIns="0">
            <a:spAutoFit/>
          </a:bodyPr>
          <a:lstStyle/>
          <a:p>
            <a:pPr>
              <a:lnSpc>
                <a:spcPct val="112000"/>
              </a:lnSpc>
              <a:spcAft>
                <a:spcPts val="0"/>
              </a:spcAft>
              <a:defRPr sz="1300" b="1">
                <a:solidFill>
                  <a:srgbClr val="FFB021"/>
                </a:solidFill>
                <a:latin typeface="Arial"/>
              </a:defRPr>
            </a:pPr>
            <a:r>
              <a:t>03 / MANAGEMENT</a:t>
            </a:r>
          </a:p>
        </p:txBody>
      </p:sp>
      <p:sp>
        <p:nvSpPr>
          <p:cNvPr id="20" name="TextBox 19"/>
          <p:cNvSpPr txBox="1"/>
          <p:nvPr/>
        </p:nvSpPr>
        <p:spPr>
          <a:xfrm>
            <a:off x="8284464" y="3584448"/>
            <a:ext cx="3081528" cy="548640"/>
          </a:xfrm>
          <a:prstGeom prst="rect">
            <a:avLst/>
          </a:prstGeom>
          <a:noFill/>
        </p:spPr>
        <p:txBody>
          <a:bodyPr wrap="none" lIns="0" rIns="0" tIns="0" bIns="0">
            <a:spAutoFit/>
          </a:bodyPr>
          <a:lstStyle/>
          <a:p>
            <a:pPr>
              <a:lnSpc>
                <a:spcPct val="112000"/>
              </a:lnSpc>
              <a:spcAft>
                <a:spcPts val="0"/>
              </a:spcAft>
              <a:defRPr sz="2000" b="1">
                <a:solidFill>
                  <a:srgbClr val="F5F7FB"/>
                </a:solidFill>
                <a:latin typeface="Arial"/>
              </a:defRPr>
            </a:pPr>
            <a:r>
              <a:t>Stay in control</a:t>
            </a:r>
          </a:p>
        </p:txBody>
      </p:sp>
      <p:sp>
        <p:nvSpPr>
          <p:cNvPr id="21" name="TextBox 20"/>
          <p:cNvSpPr txBox="1"/>
          <p:nvPr/>
        </p:nvSpPr>
        <p:spPr>
          <a:xfrm>
            <a:off x="8284464" y="4197096"/>
            <a:ext cx="3081528" cy="822960"/>
          </a:xfrm>
          <a:prstGeom prst="rect">
            <a:avLst/>
          </a:prstGeom>
          <a:noFill/>
        </p:spPr>
        <p:txBody>
          <a:bodyPr wrap="none" lIns="0" rIns="0" tIns="0" bIns="0">
            <a:spAutoFit/>
          </a:bodyPr>
          <a:lstStyle/>
          <a:p>
            <a:pPr>
              <a:lnSpc>
                <a:spcPct val="112000"/>
              </a:lnSpc>
              <a:spcAft>
                <a:spcPts val="0"/>
              </a:spcAft>
              <a:defRPr sz="1500" b="0">
                <a:solidFill>
                  <a:srgbClr val="B9C3D4"/>
                </a:solidFill>
                <a:latin typeface="Arial"/>
              </a:defRPr>
            </a:pPr>
            <a:r>
              <a:t>Manage staff, subscriptions,</a:t>
            </a:r>
          </a:p>
          <a:p>
            <a:pPr>
              <a:lnSpc>
                <a:spcPct val="112000"/>
              </a:lnSpc>
              <a:spcAft>
                <a:spcPts val="0"/>
              </a:spcAft>
              <a:defRPr sz="1500" b="0">
                <a:solidFill>
                  <a:srgbClr val="B9C3D4"/>
                </a:solidFill>
                <a:latin typeface="Arial"/>
              </a:defRPr>
            </a:pPr>
            <a:r>
              <a:t>branding and business tools</a:t>
            </a:r>
          </a:p>
          <a:p>
            <a:pPr>
              <a:lnSpc>
                <a:spcPct val="112000"/>
              </a:lnSpc>
              <a:spcAft>
                <a:spcPts val="0"/>
              </a:spcAft>
              <a:defRPr sz="1500" b="0">
                <a:solidFill>
                  <a:srgbClr val="B9C3D4"/>
                </a:solidFill>
                <a:latin typeface="Arial"/>
              </a:defRPr>
            </a:pPr>
            <a:r>
              <a:t>from dedicated panels.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5486400" cy="256032"/>
          </a:xfrm>
          <a:prstGeom prst="rect">
            <a:avLst/>
          </a:prstGeom>
          <a:noFill/>
        </p:spPr>
        <p:txBody>
          <a:bodyPr wrap="none" lIns="0" rIns="0" tIns="0" bIns="0">
            <a:spAutoFit/>
          </a:bodyPr>
          <a:lstStyle/>
          <a:p>
            <a:pPr>
              <a:lnSpc>
                <a:spcPct val="112000"/>
              </a:lnSpc>
              <a:spcAft>
                <a:spcPts val="0"/>
              </a:spcAft>
              <a:defRPr sz="1600" b="1">
                <a:solidFill>
                  <a:srgbClr val="F5F7FB"/>
                </a:solidFill>
                <a:latin typeface="Arial"/>
              </a:defRPr>
            </a:pPr>
            <a:r>
              <a:t>ServeOS</a:t>
            </a:r>
          </a:p>
        </p:txBody>
      </p:sp>
      <p:sp>
        <p:nvSpPr>
          <p:cNvPr id="4" name="TextBox 3"/>
          <p:cNvSpPr txBox="1"/>
          <p:nvPr/>
        </p:nvSpPr>
        <p:spPr>
          <a:xfrm>
            <a:off x="594360" y="6382512"/>
            <a:ext cx="9144000" cy="182880"/>
          </a:xfrm>
          <a:prstGeom prst="rect">
            <a:avLst/>
          </a:prstGeom>
          <a:noFill/>
        </p:spPr>
        <p:txBody>
          <a:bodyPr wrap="none" lIns="0" rIns="0" tIns="0" bIns="0">
            <a:spAutoFit/>
          </a:bodyPr>
          <a:lstStyle/>
          <a:p>
            <a:pPr>
              <a:lnSpc>
                <a:spcPct val="112000"/>
              </a:lnSpc>
              <a:spcAft>
                <a:spcPts val="0"/>
              </a:spcAft>
              <a:defRPr sz="800" b="0">
                <a:solidFill>
                  <a:srgbClr val="B9C3D4"/>
                </a:solidFill>
                <a:latin typeface="Arial"/>
              </a:defRPr>
            </a:pPr>
            <a:r>
              <a:t>PRODUCT BRIEF  /  14 OCT 2026</a:t>
            </a:r>
          </a:p>
        </p:txBody>
      </p:sp>
      <p:sp>
        <p:nvSpPr>
          <p:cNvPr id="5" name="TextBox 4"/>
          <p:cNvSpPr txBox="1"/>
          <p:nvPr/>
        </p:nvSpPr>
        <p:spPr>
          <a:xfrm>
            <a:off x="10972800" y="6382512"/>
            <a:ext cx="640080" cy="182880"/>
          </a:xfrm>
          <a:prstGeom prst="rect">
            <a:avLst/>
          </a:prstGeom>
          <a:noFill/>
        </p:spPr>
        <p:txBody>
          <a:bodyPr wrap="none" lIns="0" rIns="0" tIns="0" bIns="0">
            <a:spAutoFit/>
          </a:bodyPr>
          <a:lstStyle/>
          <a:p>
            <a:pPr>
              <a:lnSpc>
                <a:spcPct val="112000"/>
              </a:lnSpc>
              <a:spcAft>
                <a:spcPts val="0"/>
              </a:spcAft>
              <a:defRPr sz="800" b="0">
                <a:solidFill>
                  <a:srgbClr val="B9C3D4"/>
                </a:solidFill>
                <a:latin typeface="Arial"/>
              </a:defRPr>
            </a:pPr>
            <a:r>
              <a:t>03 / 07</a:t>
            </a:r>
          </a:p>
        </p:txBody>
      </p:sp>
      <p:sp>
        <p:nvSpPr>
          <p:cNvPr id="6" name="Rectangle 5"/>
          <p:cNvSpPr/>
          <p:nvPr/>
        </p:nvSpPr>
        <p:spPr>
          <a:xfrm>
            <a:off x="594360" y="786384"/>
            <a:ext cx="411480" cy="32004"/>
          </a:xfrm>
          <a:prstGeom prst="rect">
            <a:avLst/>
          </a:prstGeom>
          <a:solidFill>
            <a:srgbClr val="FFB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05840"/>
            <a:ext cx="10058400" cy="228600"/>
          </a:xfrm>
          <a:prstGeom prst="rect">
            <a:avLst/>
          </a:prstGeom>
          <a:noFill/>
        </p:spPr>
        <p:txBody>
          <a:bodyPr wrap="none" lIns="0" rIns="0" tIns="0" bIns="0">
            <a:spAutoFit/>
          </a:bodyPr>
          <a:lstStyle/>
          <a:p>
            <a:pPr>
              <a:lnSpc>
                <a:spcPct val="112000"/>
              </a:lnSpc>
              <a:spcAft>
                <a:spcPts val="0"/>
              </a:spcAft>
              <a:defRPr sz="1000" b="1">
                <a:solidFill>
                  <a:srgbClr val="FFB021"/>
                </a:solidFill>
                <a:latin typeface="Arial"/>
              </a:defRPr>
            </a:pPr>
            <a:r>
              <a:t>GUEST EXPERIENCE</a:t>
            </a:r>
          </a:p>
        </p:txBody>
      </p:sp>
      <p:sp>
        <p:nvSpPr>
          <p:cNvPr id="8" name="TextBox 7"/>
          <p:cNvSpPr txBox="1"/>
          <p:nvPr/>
        </p:nvSpPr>
        <p:spPr>
          <a:xfrm>
            <a:off x="594360" y="1417320"/>
            <a:ext cx="10972800" cy="694944"/>
          </a:xfrm>
          <a:prstGeom prst="rect">
            <a:avLst/>
          </a:prstGeom>
          <a:noFill/>
        </p:spPr>
        <p:txBody>
          <a:bodyPr wrap="none" lIns="0" rIns="0" tIns="0" bIns="0">
            <a:spAutoFit/>
          </a:bodyPr>
          <a:lstStyle/>
          <a:p>
            <a:pPr>
              <a:lnSpc>
                <a:spcPct val="112000"/>
              </a:lnSpc>
              <a:spcAft>
                <a:spcPts val="0"/>
              </a:spcAft>
              <a:defRPr sz="3200" b="1">
                <a:solidFill>
                  <a:srgbClr val="F5F7FB"/>
                </a:solidFill>
                <a:latin typeface="Arial"/>
              </a:defRPr>
            </a:pPr>
            <a:r>
              <a:t>A restaurant website that can take orders.</a:t>
            </a:r>
          </a:p>
        </p:txBody>
      </p:sp>
      <p:pic>
        <p:nvPicPr>
          <p:cNvPr id="9" name="guest-preview" descr="guest-preview.jpg"/>
          <p:cNvPicPr>
            <a:picLocks noChangeAspect="1"/>
          </p:cNvPicPr>
          <p:nvPr/>
        </p:nvPicPr>
        <p:blipFill>
          <a:blip r:embed="rId2"/>
          <a:stretch>
            <a:fillRect/>
          </a:stretch>
        </p:blipFill>
        <p:spPr>
          <a:xfrm>
            <a:off x="594360" y="2496312"/>
            <a:ext cx="6629400" cy="3410712"/>
          </a:xfrm>
          <a:prstGeom prst="rect">
            <a:avLst/>
          </a:prstGeom>
        </p:spPr>
      </p:pic>
      <p:sp>
        <p:nvSpPr>
          <p:cNvPr id="10" name="TextBox 9"/>
          <p:cNvSpPr txBox="1"/>
          <p:nvPr/>
        </p:nvSpPr>
        <p:spPr>
          <a:xfrm>
            <a:off x="7534656" y="2633472"/>
            <a:ext cx="4114800" cy="320040"/>
          </a:xfrm>
          <a:prstGeom prst="rect">
            <a:avLst/>
          </a:prstGeom>
          <a:noFill/>
        </p:spPr>
        <p:txBody>
          <a:bodyPr wrap="none" lIns="0" rIns="0" tIns="0" bIns="0">
            <a:spAutoFit/>
          </a:bodyPr>
          <a:lstStyle/>
          <a:p>
            <a:pPr>
              <a:lnSpc>
                <a:spcPct val="112000"/>
              </a:lnSpc>
              <a:spcAft>
                <a:spcPts val="0"/>
              </a:spcAft>
              <a:defRPr sz="2000" b="1">
                <a:solidFill>
                  <a:srgbClr val="F5F7FB"/>
                </a:solidFill>
                <a:latin typeface="Arial"/>
              </a:defRPr>
            </a:pPr>
            <a:r>
              <a:t>Your public presence</a:t>
            </a:r>
          </a:p>
        </p:txBody>
      </p:sp>
      <p:sp>
        <p:nvSpPr>
          <p:cNvPr id="11" name="TextBox 10"/>
          <p:cNvSpPr txBox="1"/>
          <p:nvPr/>
        </p:nvSpPr>
        <p:spPr>
          <a:xfrm>
            <a:off x="7534656" y="3044952"/>
            <a:ext cx="4069080" cy="548640"/>
          </a:xfrm>
          <a:prstGeom prst="rect">
            <a:avLst/>
          </a:prstGeom>
          <a:noFill/>
        </p:spPr>
        <p:txBody>
          <a:bodyPr wrap="none" lIns="0" rIns="0" tIns="0" bIns="0">
            <a:spAutoFit/>
          </a:bodyPr>
          <a:lstStyle/>
          <a:p>
            <a:pPr>
              <a:lnSpc>
                <a:spcPct val="112000"/>
              </a:lnSpc>
              <a:spcAft>
                <a:spcPts val="0"/>
              </a:spcAft>
              <a:defRPr sz="1400" b="0">
                <a:solidFill>
                  <a:srgbClr val="B9C3D4"/>
                </a:solidFill>
                <a:latin typeface="Arial"/>
              </a:defRPr>
            </a:pPr>
            <a:r>
              <a:t>Restaurant pages, branding and themes.</a:t>
            </a:r>
          </a:p>
        </p:txBody>
      </p:sp>
      <p:sp>
        <p:nvSpPr>
          <p:cNvPr id="12" name="TextBox 11"/>
          <p:cNvSpPr txBox="1"/>
          <p:nvPr/>
        </p:nvSpPr>
        <p:spPr>
          <a:xfrm>
            <a:off x="7534656" y="3593592"/>
            <a:ext cx="4114800" cy="320040"/>
          </a:xfrm>
          <a:prstGeom prst="rect">
            <a:avLst/>
          </a:prstGeom>
          <a:noFill/>
        </p:spPr>
        <p:txBody>
          <a:bodyPr wrap="none" lIns="0" rIns="0" tIns="0" bIns="0">
            <a:spAutoFit/>
          </a:bodyPr>
          <a:lstStyle/>
          <a:p>
            <a:pPr>
              <a:lnSpc>
                <a:spcPct val="112000"/>
              </a:lnSpc>
              <a:spcAft>
                <a:spcPts val="0"/>
              </a:spcAft>
              <a:defRPr sz="2000" b="1">
                <a:solidFill>
                  <a:srgbClr val="F5F7FB"/>
                </a:solidFill>
                <a:latin typeface="Arial"/>
              </a:defRPr>
            </a:pPr>
            <a:r>
              <a:t>Your digital menu</a:t>
            </a:r>
          </a:p>
        </p:txBody>
      </p:sp>
      <p:sp>
        <p:nvSpPr>
          <p:cNvPr id="13" name="TextBox 12"/>
          <p:cNvSpPr txBox="1"/>
          <p:nvPr/>
        </p:nvSpPr>
        <p:spPr>
          <a:xfrm>
            <a:off x="7534656" y="4005072"/>
            <a:ext cx="4069080" cy="548640"/>
          </a:xfrm>
          <a:prstGeom prst="rect">
            <a:avLst/>
          </a:prstGeom>
          <a:noFill/>
        </p:spPr>
        <p:txBody>
          <a:bodyPr wrap="none" lIns="0" rIns="0" tIns="0" bIns="0">
            <a:spAutoFit/>
          </a:bodyPr>
          <a:lstStyle/>
          <a:p>
            <a:pPr>
              <a:lnSpc>
                <a:spcPct val="112000"/>
              </a:lnSpc>
              <a:spcAft>
                <a:spcPts val="0"/>
              </a:spcAft>
              <a:defRPr sz="1400" b="0">
                <a:solidFill>
                  <a:srgbClr val="B9C3D4"/>
                </a:solidFill>
                <a:latin typeface="Arial"/>
              </a:defRPr>
            </a:pPr>
            <a:r>
              <a:t>Categories, prices, images and availability.</a:t>
            </a:r>
          </a:p>
        </p:txBody>
      </p:sp>
      <p:sp>
        <p:nvSpPr>
          <p:cNvPr id="14" name="TextBox 13"/>
          <p:cNvSpPr txBox="1"/>
          <p:nvPr/>
        </p:nvSpPr>
        <p:spPr>
          <a:xfrm>
            <a:off x="7534656" y="4553712"/>
            <a:ext cx="4114800" cy="320040"/>
          </a:xfrm>
          <a:prstGeom prst="rect">
            <a:avLst/>
          </a:prstGeom>
          <a:noFill/>
        </p:spPr>
        <p:txBody>
          <a:bodyPr wrap="none" lIns="0" rIns="0" tIns="0" bIns="0">
            <a:spAutoFit/>
          </a:bodyPr>
          <a:lstStyle/>
          <a:p>
            <a:pPr>
              <a:lnSpc>
                <a:spcPct val="112000"/>
              </a:lnSpc>
              <a:spcAft>
                <a:spcPts val="0"/>
              </a:spcAft>
              <a:defRPr sz="2000" b="1">
                <a:solidFill>
                  <a:srgbClr val="F5F7FB"/>
                </a:solidFill>
                <a:latin typeface="Arial"/>
              </a:defRPr>
            </a:pPr>
            <a:r>
              <a:t>Your table ordering</a:t>
            </a:r>
          </a:p>
        </p:txBody>
      </p:sp>
      <p:sp>
        <p:nvSpPr>
          <p:cNvPr id="15" name="TextBox 14"/>
          <p:cNvSpPr txBox="1"/>
          <p:nvPr/>
        </p:nvSpPr>
        <p:spPr>
          <a:xfrm>
            <a:off x="7534656" y="4965192"/>
            <a:ext cx="4069080" cy="548640"/>
          </a:xfrm>
          <a:prstGeom prst="rect">
            <a:avLst/>
          </a:prstGeom>
          <a:noFill/>
        </p:spPr>
        <p:txBody>
          <a:bodyPr wrap="none" lIns="0" rIns="0" tIns="0" bIns="0">
            <a:spAutoFit/>
          </a:bodyPr>
          <a:lstStyle/>
          <a:p>
            <a:pPr>
              <a:lnSpc>
                <a:spcPct val="112000"/>
              </a:lnSpc>
              <a:spcAft>
                <a:spcPts val="0"/>
              </a:spcAft>
              <a:defRPr sz="1400" b="0">
                <a:solidFill>
                  <a:srgbClr val="B9C3D4"/>
                </a:solidFill>
                <a:latin typeface="Arial"/>
              </a:defRPr>
            </a:pPr>
            <a:r>
              <a:t>QR links connect guests to the right menu.</a:t>
            </a:r>
          </a:p>
        </p:txBody>
      </p:sp>
      <p:sp>
        <p:nvSpPr>
          <p:cNvPr id="16" name="TextBox 15"/>
          <p:cNvSpPr txBox="1"/>
          <p:nvPr/>
        </p:nvSpPr>
        <p:spPr>
          <a:xfrm>
            <a:off x="594360" y="6035040"/>
            <a:ext cx="6400800" cy="182880"/>
          </a:xfrm>
          <a:prstGeom prst="rect">
            <a:avLst/>
          </a:prstGeom>
          <a:noFill/>
        </p:spPr>
        <p:txBody>
          <a:bodyPr wrap="none" lIns="0" rIns="0" tIns="0" bIns="0">
            <a:spAutoFit/>
          </a:bodyPr>
          <a:lstStyle/>
          <a:p>
            <a:pPr>
              <a:lnSpc>
                <a:spcPct val="112000"/>
              </a:lnSpc>
              <a:spcAft>
                <a:spcPts val="0"/>
              </a:spcAft>
              <a:defRPr sz="800" b="0">
                <a:solidFill>
                  <a:srgbClr val="B9C3D4"/>
                </a:solidFill>
                <a:latin typeface="Arial"/>
              </a:defRPr>
            </a:pPr>
            <a:r>
              <a:t>PRODUCT INTERFACE PREVIEW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5486400" cy="256032"/>
          </a:xfrm>
          <a:prstGeom prst="rect">
            <a:avLst/>
          </a:prstGeom>
          <a:noFill/>
        </p:spPr>
        <p:txBody>
          <a:bodyPr wrap="none" lIns="0" rIns="0" tIns="0" bIns="0">
            <a:spAutoFit/>
          </a:bodyPr>
          <a:lstStyle/>
          <a:p>
            <a:pPr>
              <a:lnSpc>
                <a:spcPct val="112000"/>
              </a:lnSpc>
              <a:spcAft>
                <a:spcPts val="0"/>
              </a:spcAft>
              <a:defRPr sz="1600" b="1">
                <a:solidFill>
                  <a:srgbClr val="F5F7FB"/>
                </a:solidFill>
                <a:latin typeface="Arial"/>
              </a:defRPr>
            </a:pPr>
            <a:r>
              <a:t>ServeOS</a:t>
            </a:r>
          </a:p>
        </p:txBody>
      </p:sp>
      <p:sp>
        <p:nvSpPr>
          <p:cNvPr id="4" name="TextBox 3"/>
          <p:cNvSpPr txBox="1"/>
          <p:nvPr/>
        </p:nvSpPr>
        <p:spPr>
          <a:xfrm>
            <a:off x="594360" y="6382512"/>
            <a:ext cx="9144000" cy="182880"/>
          </a:xfrm>
          <a:prstGeom prst="rect">
            <a:avLst/>
          </a:prstGeom>
          <a:noFill/>
        </p:spPr>
        <p:txBody>
          <a:bodyPr wrap="none" lIns="0" rIns="0" tIns="0" bIns="0">
            <a:spAutoFit/>
          </a:bodyPr>
          <a:lstStyle/>
          <a:p>
            <a:pPr>
              <a:lnSpc>
                <a:spcPct val="112000"/>
              </a:lnSpc>
              <a:spcAft>
                <a:spcPts val="0"/>
              </a:spcAft>
              <a:defRPr sz="800" b="0">
                <a:solidFill>
                  <a:srgbClr val="B9C3D4"/>
                </a:solidFill>
                <a:latin typeface="Arial"/>
              </a:defRPr>
            </a:pPr>
            <a:r>
              <a:t>PRODUCT BRIEF  /  14 OCT 2026</a:t>
            </a:r>
          </a:p>
        </p:txBody>
      </p:sp>
      <p:sp>
        <p:nvSpPr>
          <p:cNvPr id="5" name="TextBox 4"/>
          <p:cNvSpPr txBox="1"/>
          <p:nvPr/>
        </p:nvSpPr>
        <p:spPr>
          <a:xfrm>
            <a:off x="10972800" y="6382512"/>
            <a:ext cx="640080" cy="182880"/>
          </a:xfrm>
          <a:prstGeom prst="rect">
            <a:avLst/>
          </a:prstGeom>
          <a:noFill/>
        </p:spPr>
        <p:txBody>
          <a:bodyPr wrap="none" lIns="0" rIns="0" tIns="0" bIns="0">
            <a:spAutoFit/>
          </a:bodyPr>
          <a:lstStyle/>
          <a:p>
            <a:pPr>
              <a:lnSpc>
                <a:spcPct val="112000"/>
              </a:lnSpc>
              <a:spcAft>
                <a:spcPts val="0"/>
              </a:spcAft>
              <a:defRPr sz="800" b="0">
                <a:solidFill>
                  <a:srgbClr val="B9C3D4"/>
                </a:solidFill>
                <a:latin typeface="Arial"/>
              </a:defRPr>
            </a:pPr>
            <a:r>
              <a:t>04 / 07</a:t>
            </a:r>
          </a:p>
        </p:txBody>
      </p:sp>
      <p:sp>
        <p:nvSpPr>
          <p:cNvPr id="6" name="Rectangle 5"/>
          <p:cNvSpPr/>
          <p:nvPr/>
        </p:nvSpPr>
        <p:spPr>
          <a:xfrm>
            <a:off x="594360" y="786384"/>
            <a:ext cx="411480" cy="32004"/>
          </a:xfrm>
          <a:prstGeom prst="rect">
            <a:avLst/>
          </a:prstGeom>
          <a:solidFill>
            <a:srgbClr val="FFB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05840"/>
            <a:ext cx="10058400" cy="228600"/>
          </a:xfrm>
          <a:prstGeom prst="rect">
            <a:avLst/>
          </a:prstGeom>
          <a:noFill/>
        </p:spPr>
        <p:txBody>
          <a:bodyPr wrap="none" lIns="0" rIns="0" tIns="0" bIns="0">
            <a:spAutoFit/>
          </a:bodyPr>
          <a:lstStyle/>
          <a:p>
            <a:pPr>
              <a:lnSpc>
                <a:spcPct val="112000"/>
              </a:lnSpc>
              <a:spcAft>
                <a:spcPts val="0"/>
              </a:spcAft>
              <a:defRPr sz="1000" b="1">
                <a:solidFill>
                  <a:srgbClr val="FFB021"/>
                </a:solidFill>
                <a:latin typeface="Arial"/>
              </a:defRPr>
            </a:pPr>
            <a:r>
              <a:t>RESTAURANT OPERATIONS</a:t>
            </a:r>
          </a:p>
        </p:txBody>
      </p:sp>
      <p:sp>
        <p:nvSpPr>
          <p:cNvPr id="8" name="TextBox 7"/>
          <p:cNvSpPr txBox="1"/>
          <p:nvPr/>
        </p:nvSpPr>
        <p:spPr>
          <a:xfrm>
            <a:off x="594360" y="1417320"/>
            <a:ext cx="10972800" cy="694944"/>
          </a:xfrm>
          <a:prstGeom prst="rect">
            <a:avLst/>
          </a:prstGeom>
          <a:noFill/>
        </p:spPr>
        <p:txBody>
          <a:bodyPr wrap="none" lIns="0" rIns="0" tIns="0" bIns="0">
            <a:spAutoFit/>
          </a:bodyPr>
          <a:lstStyle/>
          <a:p>
            <a:pPr>
              <a:lnSpc>
                <a:spcPct val="112000"/>
              </a:lnSpc>
              <a:spcAft>
                <a:spcPts val="0"/>
              </a:spcAft>
              <a:defRPr sz="3200" b="1">
                <a:solidFill>
                  <a:srgbClr val="F5F7FB"/>
                </a:solidFill>
                <a:latin typeface="Arial"/>
              </a:defRPr>
            </a:pPr>
            <a:r>
              <a:t>Give every team member the right workspace.</a:t>
            </a:r>
          </a:p>
        </p:txBody>
      </p:sp>
      <p:pic>
        <p:nvPicPr>
          <p:cNvPr id="9" name="kitchen-preview" descr="kitchen-preview.jpg"/>
          <p:cNvPicPr>
            <a:picLocks noChangeAspect="1"/>
          </p:cNvPicPr>
          <p:nvPr/>
        </p:nvPicPr>
        <p:blipFill>
          <a:blip r:embed="rId2"/>
          <a:stretch>
            <a:fillRect/>
          </a:stretch>
        </p:blipFill>
        <p:spPr>
          <a:xfrm>
            <a:off x="594360" y="2514600"/>
            <a:ext cx="6629400" cy="3438144"/>
          </a:xfrm>
          <a:prstGeom prst="rect">
            <a:avLst/>
          </a:prstGeom>
        </p:spPr>
      </p:pic>
      <p:sp>
        <p:nvSpPr>
          <p:cNvPr id="10" name="TextBox 9"/>
          <p:cNvSpPr txBox="1"/>
          <p:nvPr/>
        </p:nvSpPr>
        <p:spPr>
          <a:xfrm>
            <a:off x="7534656" y="2578608"/>
            <a:ext cx="4114800" cy="329184"/>
          </a:xfrm>
          <a:prstGeom prst="rect">
            <a:avLst/>
          </a:prstGeom>
          <a:noFill/>
        </p:spPr>
        <p:txBody>
          <a:bodyPr wrap="none" lIns="0" rIns="0" tIns="0" bIns="0">
            <a:spAutoFit/>
          </a:bodyPr>
          <a:lstStyle/>
          <a:p>
            <a:pPr>
              <a:lnSpc>
                <a:spcPct val="112000"/>
              </a:lnSpc>
              <a:spcAft>
                <a:spcPts val="0"/>
              </a:spcAft>
              <a:defRPr sz="2000" b="1">
                <a:solidFill>
                  <a:srgbClr val="F5F7FB"/>
                </a:solidFill>
                <a:latin typeface="Arial"/>
              </a:defRPr>
            </a:pPr>
            <a:r>
              <a:t>Owner &amp; admin</a:t>
            </a:r>
          </a:p>
        </p:txBody>
      </p:sp>
      <p:sp>
        <p:nvSpPr>
          <p:cNvPr id="11" name="TextBox 10"/>
          <p:cNvSpPr txBox="1"/>
          <p:nvPr/>
        </p:nvSpPr>
        <p:spPr>
          <a:xfrm>
            <a:off x="7534656" y="3008376"/>
            <a:ext cx="4023360" cy="502920"/>
          </a:xfrm>
          <a:prstGeom prst="rect">
            <a:avLst/>
          </a:prstGeom>
          <a:noFill/>
        </p:spPr>
        <p:txBody>
          <a:bodyPr wrap="none" lIns="0" rIns="0" tIns="0" bIns="0">
            <a:spAutoFit/>
          </a:bodyPr>
          <a:lstStyle/>
          <a:p>
            <a:pPr>
              <a:lnSpc>
                <a:spcPct val="112000"/>
              </a:lnSpc>
              <a:spcAft>
                <a:spcPts val="0"/>
              </a:spcAft>
              <a:defRPr sz="1400" b="0">
                <a:solidFill>
                  <a:srgbClr val="B9C3D4"/>
                </a:solidFill>
                <a:latin typeface="Arial"/>
              </a:defRPr>
            </a:pPr>
            <a:r>
              <a:t>Menus, staff, orders, billing and settings.</a:t>
            </a:r>
          </a:p>
        </p:txBody>
      </p:sp>
      <p:sp>
        <p:nvSpPr>
          <p:cNvPr id="12" name="TextBox 11"/>
          <p:cNvSpPr txBox="1"/>
          <p:nvPr/>
        </p:nvSpPr>
        <p:spPr>
          <a:xfrm>
            <a:off x="7534656" y="3511296"/>
            <a:ext cx="4114800" cy="329184"/>
          </a:xfrm>
          <a:prstGeom prst="rect">
            <a:avLst/>
          </a:prstGeom>
          <a:noFill/>
        </p:spPr>
        <p:txBody>
          <a:bodyPr wrap="none" lIns="0" rIns="0" tIns="0" bIns="0">
            <a:spAutoFit/>
          </a:bodyPr>
          <a:lstStyle/>
          <a:p>
            <a:pPr>
              <a:lnSpc>
                <a:spcPct val="112000"/>
              </a:lnSpc>
              <a:spcAft>
                <a:spcPts val="0"/>
              </a:spcAft>
              <a:defRPr sz="2000" b="1">
                <a:solidFill>
                  <a:srgbClr val="F5F7FB"/>
                </a:solidFill>
                <a:latin typeface="Arial"/>
              </a:defRPr>
            </a:pPr>
            <a:r>
              <a:t>Kitchen &amp; waiter</a:t>
            </a:r>
          </a:p>
        </p:txBody>
      </p:sp>
      <p:sp>
        <p:nvSpPr>
          <p:cNvPr id="13" name="TextBox 12"/>
          <p:cNvSpPr txBox="1"/>
          <p:nvPr/>
        </p:nvSpPr>
        <p:spPr>
          <a:xfrm>
            <a:off x="7534656" y="3941063"/>
            <a:ext cx="4023360" cy="502920"/>
          </a:xfrm>
          <a:prstGeom prst="rect">
            <a:avLst/>
          </a:prstGeom>
          <a:noFill/>
        </p:spPr>
        <p:txBody>
          <a:bodyPr wrap="none" lIns="0" rIns="0" tIns="0" bIns="0">
            <a:spAutoFit/>
          </a:bodyPr>
          <a:lstStyle/>
          <a:p>
            <a:pPr>
              <a:lnSpc>
                <a:spcPct val="112000"/>
              </a:lnSpc>
              <a:spcAft>
                <a:spcPts val="0"/>
              </a:spcAft>
              <a:defRPr sz="1400" b="0">
                <a:solidFill>
                  <a:srgbClr val="B9C3D4"/>
                </a:solidFill>
                <a:latin typeface="Arial"/>
              </a:defRPr>
            </a:pPr>
            <a:r>
              <a:t>Dedicated panels for tickets and service.</a:t>
            </a:r>
          </a:p>
        </p:txBody>
      </p:sp>
      <p:sp>
        <p:nvSpPr>
          <p:cNvPr id="14" name="TextBox 13"/>
          <p:cNvSpPr txBox="1"/>
          <p:nvPr/>
        </p:nvSpPr>
        <p:spPr>
          <a:xfrm>
            <a:off x="7534656" y="4443984"/>
            <a:ext cx="4114800" cy="329184"/>
          </a:xfrm>
          <a:prstGeom prst="rect">
            <a:avLst/>
          </a:prstGeom>
          <a:noFill/>
        </p:spPr>
        <p:txBody>
          <a:bodyPr wrap="none" lIns="0" rIns="0" tIns="0" bIns="0">
            <a:spAutoFit/>
          </a:bodyPr>
          <a:lstStyle/>
          <a:p>
            <a:pPr>
              <a:lnSpc>
                <a:spcPct val="112000"/>
              </a:lnSpc>
              <a:spcAft>
                <a:spcPts val="0"/>
              </a:spcAft>
              <a:defRPr sz="2000" b="1">
                <a:solidFill>
                  <a:srgbClr val="F5F7FB"/>
                </a:solidFill>
                <a:latin typeface="Arial"/>
              </a:defRPr>
            </a:pPr>
            <a:r>
              <a:t>Business tools</a:t>
            </a:r>
          </a:p>
        </p:txBody>
      </p:sp>
      <p:sp>
        <p:nvSpPr>
          <p:cNvPr id="15" name="TextBox 14"/>
          <p:cNvSpPr txBox="1"/>
          <p:nvPr/>
        </p:nvSpPr>
        <p:spPr>
          <a:xfrm>
            <a:off x="7534656" y="4873752"/>
            <a:ext cx="4023360" cy="502920"/>
          </a:xfrm>
          <a:prstGeom prst="rect">
            <a:avLst/>
          </a:prstGeom>
          <a:noFill/>
        </p:spPr>
        <p:txBody>
          <a:bodyPr wrap="none" lIns="0" rIns="0" tIns="0" bIns="0">
            <a:spAutoFit/>
          </a:bodyPr>
          <a:lstStyle/>
          <a:p>
            <a:pPr>
              <a:lnSpc>
                <a:spcPct val="112000"/>
              </a:lnSpc>
              <a:spcAft>
                <a:spcPts val="0"/>
              </a:spcAft>
              <a:defRPr sz="1400" b="0">
                <a:solidFill>
                  <a:srgbClr val="B9C3D4"/>
                </a:solidFill>
                <a:latin typeface="Arial"/>
              </a:defRPr>
            </a:pPr>
            <a:r>
              <a:t>Accounting, loyalty, promotions and reports.</a:t>
            </a:r>
          </a:p>
        </p:txBody>
      </p:sp>
      <p:sp>
        <p:nvSpPr>
          <p:cNvPr id="16" name="TextBox 15"/>
          <p:cNvSpPr txBox="1"/>
          <p:nvPr/>
        </p:nvSpPr>
        <p:spPr>
          <a:xfrm>
            <a:off x="594360" y="6035040"/>
            <a:ext cx="6400800" cy="182880"/>
          </a:xfrm>
          <a:prstGeom prst="rect">
            <a:avLst/>
          </a:prstGeom>
          <a:noFill/>
        </p:spPr>
        <p:txBody>
          <a:bodyPr wrap="none" lIns="0" rIns="0" tIns="0" bIns="0">
            <a:spAutoFit/>
          </a:bodyPr>
          <a:lstStyle/>
          <a:p>
            <a:pPr>
              <a:lnSpc>
                <a:spcPct val="112000"/>
              </a:lnSpc>
              <a:spcAft>
                <a:spcPts val="0"/>
              </a:spcAft>
              <a:defRPr sz="800" b="0">
                <a:solidFill>
                  <a:srgbClr val="B9C3D4"/>
                </a:solidFill>
                <a:latin typeface="Arial"/>
              </a:defRPr>
            </a:pPr>
            <a:r>
              <a:t>PRODUCT INTERFACE PREVIEW  /  FEATURES DEPEND ON PACKAGE AND ROLE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5486400" cy="256032"/>
          </a:xfrm>
          <a:prstGeom prst="rect">
            <a:avLst/>
          </a:prstGeom>
          <a:noFill/>
        </p:spPr>
        <p:txBody>
          <a:bodyPr wrap="none" lIns="0" rIns="0" tIns="0" bIns="0">
            <a:spAutoFit/>
          </a:bodyPr>
          <a:lstStyle/>
          <a:p>
            <a:pPr>
              <a:lnSpc>
                <a:spcPct val="112000"/>
              </a:lnSpc>
              <a:spcAft>
                <a:spcPts val="0"/>
              </a:spcAft>
              <a:defRPr sz="1600" b="1">
                <a:solidFill>
                  <a:srgbClr val="F5F7FB"/>
                </a:solidFill>
                <a:latin typeface="Arial"/>
              </a:defRPr>
            </a:pPr>
            <a:r>
              <a:t>ServeOS</a:t>
            </a:r>
          </a:p>
        </p:txBody>
      </p:sp>
      <p:sp>
        <p:nvSpPr>
          <p:cNvPr id="4" name="TextBox 3"/>
          <p:cNvSpPr txBox="1"/>
          <p:nvPr/>
        </p:nvSpPr>
        <p:spPr>
          <a:xfrm>
            <a:off x="594360" y="6382512"/>
            <a:ext cx="9144000" cy="182880"/>
          </a:xfrm>
          <a:prstGeom prst="rect">
            <a:avLst/>
          </a:prstGeom>
          <a:noFill/>
        </p:spPr>
        <p:txBody>
          <a:bodyPr wrap="none" lIns="0" rIns="0" tIns="0" bIns="0">
            <a:spAutoFit/>
          </a:bodyPr>
          <a:lstStyle/>
          <a:p>
            <a:pPr>
              <a:lnSpc>
                <a:spcPct val="112000"/>
              </a:lnSpc>
              <a:spcAft>
                <a:spcPts val="0"/>
              </a:spcAft>
              <a:defRPr sz="800" b="0">
                <a:solidFill>
                  <a:srgbClr val="B9C3D4"/>
                </a:solidFill>
                <a:latin typeface="Arial"/>
              </a:defRPr>
            </a:pPr>
            <a:r>
              <a:t>PRODUCT BRIEF  /  14 OCT 2026</a:t>
            </a:r>
          </a:p>
        </p:txBody>
      </p:sp>
      <p:sp>
        <p:nvSpPr>
          <p:cNvPr id="5" name="TextBox 4"/>
          <p:cNvSpPr txBox="1"/>
          <p:nvPr/>
        </p:nvSpPr>
        <p:spPr>
          <a:xfrm>
            <a:off x="10972800" y="6382512"/>
            <a:ext cx="640080" cy="182880"/>
          </a:xfrm>
          <a:prstGeom prst="rect">
            <a:avLst/>
          </a:prstGeom>
          <a:noFill/>
        </p:spPr>
        <p:txBody>
          <a:bodyPr wrap="none" lIns="0" rIns="0" tIns="0" bIns="0">
            <a:spAutoFit/>
          </a:bodyPr>
          <a:lstStyle/>
          <a:p>
            <a:pPr>
              <a:lnSpc>
                <a:spcPct val="112000"/>
              </a:lnSpc>
              <a:spcAft>
                <a:spcPts val="0"/>
              </a:spcAft>
              <a:defRPr sz="800" b="0">
                <a:solidFill>
                  <a:srgbClr val="B9C3D4"/>
                </a:solidFill>
                <a:latin typeface="Arial"/>
              </a:defRPr>
            </a:pPr>
            <a:r>
              <a:t>05 / 07</a:t>
            </a:r>
          </a:p>
        </p:txBody>
      </p:sp>
      <p:sp>
        <p:nvSpPr>
          <p:cNvPr id="6" name="Rectangle 5"/>
          <p:cNvSpPr/>
          <p:nvPr/>
        </p:nvSpPr>
        <p:spPr>
          <a:xfrm>
            <a:off x="594360" y="786384"/>
            <a:ext cx="411480" cy="32004"/>
          </a:xfrm>
          <a:prstGeom prst="rect">
            <a:avLst/>
          </a:prstGeom>
          <a:solidFill>
            <a:srgbClr val="FFB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05840"/>
            <a:ext cx="10058400" cy="228600"/>
          </a:xfrm>
          <a:prstGeom prst="rect">
            <a:avLst/>
          </a:prstGeom>
          <a:noFill/>
        </p:spPr>
        <p:txBody>
          <a:bodyPr wrap="none" lIns="0" rIns="0" tIns="0" bIns="0">
            <a:spAutoFit/>
          </a:bodyPr>
          <a:lstStyle/>
          <a:p>
            <a:pPr>
              <a:lnSpc>
                <a:spcPct val="112000"/>
              </a:lnSpc>
              <a:spcAft>
                <a:spcPts val="0"/>
              </a:spcAft>
              <a:defRPr sz="1000" b="1">
                <a:solidFill>
                  <a:srgbClr val="FFB021"/>
                </a:solidFill>
                <a:latin typeface="Arial"/>
              </a:defRPr>
            </a:pPr>
            <a:r>
              <a:t>SUPPORT &amp; SAAS CONTROL</a:t>
            </a:r>
          </a:p>
        </p:txBody>
      </p:sp>
      <p:sp>
        <p:nvSpPr>
          <p:cNvPr id="8" name="TextBox 7"/>
          <p:cNvSpPr txBox="1"/>
          <p:nvPr/>
        </p:nvSpPr>
        <p:spPr>
          <a:xfrm>
            <a:off x="594360" y="1417320"/>
            <a:ext cx="10972800" cy="694944"/>
          </a:xfrm>
          <a:prstGeom prst="rect">
            <a:avLst/>
          </a:prstGeom>
          <a:noFill/>
        </p:spPr>
        <p:txBody>
          <a:bodyPr wrap="none" lIns="0" rIns="0" tIns="0" bIns="0">
            <a:spAutoFit/>
          </a:bodyPr>
          <a:lstStyle/>
          <a:p>
            <a:pPr>
              <a:lnSpc>
                <a:spcPct val="112000"/>
              </a:lnSpc>
              <a:spcAft>
                <a:spcPts val="0"/>
              </a:spcAft>
              <a:defRPr sz="3200" b="1">
                <a:solidFill>
                  <a:srgbClr val="F5F7FB"/>
                </a:solidFill>
                <a:latin typeface="Arial"/>
              </a:defRPr>
            </a:pPr>
            <a:r>
              <a:t>ServeOS AI, backed by a human team.</a:t>
            </a:r>
          </a:p>
        </p:txBody>
      </p:sp>
      <p:sp>
        <p:nvSpPr>
          <p:cNvPr id="9" name="Rounded Rectangle 8"/>
          <p:cNvSpPr/>
          <p:nvPr/>
        </p:nvSpPr>
        <p:spPr>
          <a:xfrm>
            <a:off x="594360" y="2532888"/>
            <a:ext cx="5532120" cy="3483864"/>
          </a:xfrm>
          <a:prstGeom prst="roundRect">
            <a:avLst>
              <a:gd name="adj" fmla="val 12000"/>
            </a:avLst>
          </a:prstGeom>
          <a:solidFill>
            <a:srgbClr val="18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770632"/>
            <a:ext cx="5074920" cy="365760"/>
          </a:xfrm>
          <a:prstGeom prst="rect">
            <a:avLst/>
          </a:prstGeom>
          <a:noFill/>
        </p:spPr>
        <p:txBody>
          <a:bodyPr wrap="none" lIns="0" rIns="0" tIns="0" bIns="0">
            <a:spAutoFit/>
          </a:bodyPr>
          <a:lstStyle/>
          <a:p>
            <a:pPr>
              <a:lnSpc>
                <a:spcPct val="112000"/>
              </a:lnSpc>
              <a:spcAft>
                <a:spcPts val="0"/>
              </a:spcAft>
              <a:defRPr sz="2100" b="1">
                <a:solidFill>
                  <a:srgbClr val="F5F7FB"/>
                </a:solidFill>
                <a:latin typeface="Arial"/>
              </a:defRPr>
            </a:pPr>
            <a:r>
              <a:t>Customer support</a:t>
            </a:r>
          </a:p>
        </p:txBody>
      </p:sp>
      <p:sp>
        <p:nvSpPr>
          <p:cNvPr id="11" name="TextBox 10"/>
          <p:cNvSpPr txBox="1"/>
          <p:nvPr/>
        </p:nvSpPr>
        <p:spPr>
          <a:xfrm>
            <a:off x="868680" y="3465576"/>
            <a:ext cx="5029200" cy="256032"/>
          </a:xfrm>
          <a:prstGeom prst="rect">
            <a:avLst/>
          </a:prstGeom>
          <a:noFill/>
        </p:spPr>
        <p:txBody>
          <a:bodyPr wrap="none" lIns="0" rIns="0" tIns="0" bIns="0">
            <a:spAutoFit/>
          </a:bodyPr>
          <a:lstStyle/>
          <a:p>
            <a:pPr>
              <a:lnSpc>
                <a:spcPct val="112000"/>
              </a:lnSpc>
              <a:spcAft>
                <a:spcPts val="0"/>
              </a:spcAft>
              <a:defRPr sz="1500" b="1">
                <a:solidFill>
                  <a:srgbClr val="FFB021"/>
                </a:solidFill>
                <a:latin typeface="Arial"/>
              </a:defRPr>
            </a:pPr>
            <a:r>
              <a:t>01  Customer message</a:t>
            </a:r>
          </a:p>
        </p:txBody>
      </p:sp>
      <p:sp>
        <p:nvSpPr>
          <p:cNvPr id="12" name="TextBox 11"/>
          <p:cNvSpPr txBox="1"/>
          <p:nvPr/>
        </p:nvSpPr>
        <p:spPr>
          <a:xfrm>
            <a:off x="868680" y="3776472"/>
            <a:ext cx="4983480" cy="274320"/>
          </a:xfrm>
          <a:prstGeom prst="rect">
            <a:avLst/>
          </a:prstGeom>
          <a:noFill/>
        </p:spPr>
        <p:txBody>
          <a:bodyPr wrap="none" lIns="0" rIns="0" tIns="0" bIns="0">
            <a:spAutoFit/>
          </a:bodyPr>
          <a:lstStyle/>
          <a:p>
            <a:pPr>
              <a:lnSpc>
                <a:spcPct val="112000"/>
              </a:lnSpc>
              <a:spcAft>
                <a:spcPts val="0"/>
              </a:spcAft>
              <a:defRPr sz="1300" b="0">
                <a:solidFill>
                  <a:srgbClr val="B9C3D4"/>
                </a:solidFill>
                <a:latin typeface="Arial"/>
              </a:defRPr>
            </a:pPr>
            <a:r>
              <a:t>A question from website or restaurant chat.</a:t>
            </a:r>
          </a:p>
        </p:txBody>
      </p:sp>
      <p:sp>
        <p:nvSpPr>
          <p:cNvPr id="13" name="TextBox 12"/>
          <p:cNvSpPr txBox="1"/>
          <p:nvPr/>
        </p:nvSpPr>
        <p:spPr>
          <a:xfrm>
            <a:off x="868680" y="4197096"/>
            <a:ext cx="5029200" cy="256032"/>
          </a:xfrm>
          <a:prstGeom prst="rect">
            <a:avLst/>
          </a:prstGeom>
          <a:noFill/>
        </p:spPr>
        <p:txBody>
          <a:bodyPr wrap="none" lIns="0" rIns="0" tIns="0" bIns="0">
            <a:spAutoFit/>
          </a:bodyPr>
          <a:lstStyle/>
          <a:p>
            <a:pPr>
              <a:lnSpc>
                <a:spcPct val="112000"/>
              </a:lnSpc>
              <a:spcAft>
                <a:spcPts val="0"/>
              </a:spcAft>
              <a:defRPr sz="1500" b="1">
                <a:solidFill>
                  <a:srgbClr val="FFB021"/>
                </a:solidFill>
                <a:latin typeface="Arial"/>
              </a:defRPr>
            </a:pPr>
            <a:r>
              <a:t>02  ServeOS AI</a:t>
            </a:r>
          </a:p>
        </p:txBody>
      </p:sp>
      <p:sp>
        <p:nvSpPr>
          <p:cNvPr id="14" name="TextBox 13"/>
          <p:cNvSpPr txBox="1"/>
          <p:nvPr/>
        </p:nvSpPr>
        <p:spPr>
          <a:xfrm>
            <a:off x="868680" y="4507992"/>
            <a:ext cx="4983480" cy="274320"/>
          </a:xfrm>
          <a:prstGeom prst="rect">
            <a:avLst/>
          </a:prstGeom>
          <a:noFill/>
        </p:spPr>
        <p:txBody>
          <a:bodyPr wrap="none" lIns="0" rIns="0" tIns="0" bIns="0">
            <a:spAutoFit/>
          </a:bodyPr>
          <a:lstStyle/>
          <a:p>
            <a:pPr>
              <a:lnSpc>
                <a:spcPct val="112000"/>
              </a:lnSpc>
              <a:spcAft>
                <a:spcPts val="0"/>
              </a:spcAft>
              <a:defRPr sz="1300" b="0">
                <a:solidFill>
                  <a:srgbClr val="B9C3D4"/>
                </a:solidFill>
                <a:latin typeface="Arial"/>
              </a:defRPr>
            </a:pPr>
            <a:r>
              <a:t>Customer-language replies using published guides.</a:t>
            </a:r>
          </a:p>
        </p:txBody>
      </p:sp>
      <p:sp>
        <p:nvSpPr>
          <p:cNvPr id="15" name="TextBox 14"/>
          <p:cNvSpPr txBox="1"/>
          <p:nvPr/>
        </p:nvSpPr>
        <p:spPr>
          <a:xfrm>
            <a:off x="868680" y="4928616"/>
            <a:ext cx="5029200" cy="256032"/>
          </a:xfrm>
          <a:prstGeom prst="rect">
            <a:avLst/>
          </a:prstGeom>
          <a:noFill/>
        </p:spPr>
        <p:txBody>
          <a:bodyPr wrap="none" lIns="0" rIns="0" tIns="0" bIns="0">
            <a:spAutoFit/>
          </a:bodyPr>
          <a:lstStyle/>
          <a:p>
            <a:pPr>
              <a:lnSpc>
                <a:spcPct val="112000"/>
              </a:lnSpc>
              <a:spcAft>
                <a:spcPts val="0"/>
              </a:spcAft>
              <a:defRPr sz="1500" b="1">
                <a:solidFill>
                  <a:srgbClr val="FFB021"/>
                </a:solidFill>
                <a:latin typeface="Arial"/>
              </a:defRPr>
            </a:pPr>
            <a:r>
              <a:t>03  Answer or human handoff</a:t>
            </a:r>
          </a:p>
        </p:txBody>
      </p:sp>
      <p:sp>
        <p:nvSpPr>
          <p:cNvPr id="16" name="TextBox 15"/>
          <p:cNvSpPr txBox="1"/>
          <p:nvPr/>
        </p:nvSpPr>
        <p:spPr>
          <a:xfrm>
            <a:off x="868680" y="5239512"/>
            <a:ext cx="4983480" cy="274320"/>
          </a:xfrm>
          <a:prstGeom prst="rect">
            <a:avLst/>
          </a:prstGeom>
          <a:noFill/>
        </p:spPr>
        <p:txBody>
          <a:bodyPr wrap="none" lIns="0" rIns="0" tIns="0" bIns="0">
            <a:spAutoFit/>
          </a:bodyPr>
          <a:lstStyle/>
          <a:p>
            <a:pPr>
              <a:lnSpc>
                <a:spcPct val="112000"/>
              </a:lnSpc>
              <a:spcAft>
                <a:spcPts val="0"/>
              </a:spcAft>
              <a:defRPr sz="1300" b="0">
                <a:solidFill>
                  <a:srgbClr val="B9C3D4"/>
                </a:solidFill>
                <a:latin typeface="Arial"/>
              </a:defRPr>
            </a:pPr>
            <a:r>
              <a:t>Admins can review drafts and take over the chat.</a:t>
            </a:r>
          </a:p>
        </p:txBody>
      </p:sp>
      <p:sp>
        <p:nvSpPr>
          <p:cNvPr id="17" name="Rounded Rectangle 16"/>
          <p:cNvSpPr/>
          <p:nvPr/>
        </p:nvSpPr>
        <p:spPr>
          <a:xfrm>
            <a:off x="6336792" y="2532888"/>
            <a:ext cx="5266944" cy="3483864"/>
          </a:xfrm>
          <a:prstGeom prst="roundRect">
            <a:avLst>
              <a:gd name="adj" fmla="val 12000"/>
            </a:avLst>
          </a:prstGeom>
          <a:solidFill>
            <a:srgbClr val="18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611112" y="2770632"/>
            <a:ext cx="4754880" cy="365760"/>
          </a:xfrm>
          <a:prstGeom prst="rect">
            <a:avLst/>
          </a:prstGeom>
          <a:noFill/>
        </p:spPr>
        <p:txBody>
          <a:bodyPr wrap="none" lIns="0" rIns="0" tIns="0" bIns="0">
            <a:spAutoFit/>
          </a:bodyPr>
          <a:lstStyle/>
          <a:p>
            <a:pPr>
              <a:lnSpc>
                <a:spcPct val="112000"/>
              </a:lnSpc>
              <a:spcAft>
                <a:spcPts val="0"/>
              </a:spcAft>
              <a:defRPr sz="2100" b="1">
                <a:solidFill>
                  <a:srgbClr val="F5F7FB"/>
                </a:solidFill>
                <a:latin typeface="Arial"/>
              </a:defRPr>
            </a:pPr>
            <a:r>
              <a:t>Platform administration</a:t>
            </a:r>
          </a:p>
        </p:txBody>
      </p:sp>
      <p:sp>
        <p:nvSpPr>
          <p:cNvPr id="19" name="TextBox 18"/>
          <p:cNvSpPr txBox="1"/>
          <p:nvPr/>
        </p:nvSpPr>
        <p:spPr>
          <a:xfrm>
            <a:off x="6611112" y="3511296"/>
            <a:ext cx="4754880" cy="2011680"/>
          </a:xfrm>
          <a:prstGeom prst="rect">
            <a:avLst/>
          </a:prstGeom>
          <a:noFill/>
        </p:spPr>
        <p:txBody>
          <a:bodyPr wrap="none" lIns="0" rIns="0" tIns="0" bIns="0">
            <a:spAutoFit/>
          </a:bodyPr>
          <a:lstStyle/>
          <a:p>
            <a:pPr>
              <a:lnSpc>
                <a:spcPct val="112000"/>
              </a:lnSpc>
              <a:spcAft>
                <a:spcPts val="0"/>
              </a:spcAft>
              <a:defRPr sz="1700" b="0">
                <a:solidFill>
                  <a:srgbClr val="B9C3D4"/>
                </a:solidFill>
                <a:latin typeface="Arial"/>
              </a:defRPr>
            </a:pPr>
            <a:r>
              <a:t>Restaurant tenants and packages</a:t>
            </a:r>
          </a:p>
          <a:p>
            <a:pPr>
              <a:lnSpc>
                <a:spcPct val="112000"/>
              </a:lnSpc>
              <a:spcAft>
                <a:spcPts val="0"/>
              </a:spcAft>
              <a:defRPr sz="1700" b="0">
                <a:solidFill>
                  <a:srgbClr val="B9C3D4"/>
                </a:solidFill>
                <a:latin typeface="Arial"/>
              </a:defRPr>
            </a:pPr>
            <a:r>
              <a:t>Payment review and add-on catalog</a:t>
            </a:r>
          </a:p>
          <a:p>
            <a:pPr>
              <a:lnSpc>
                <a:spcPct val="112000"/>
              </a:lnSpc>
              <a:spcAft>
                <a:spcPts val="0"/>
              </a:spcAft>
              <a:defRPr sz="1700" b="0">
                <a:solidFill>
                  <a:srgbClr val="B9C3D4"/>
                </a:solidFill>
                <a:latin typeface="Arial"/>
              </a:defRPr>
            </a:pPr>
            <a:r>
              <a:t>Website themes and domains</a:t>
            </a:r>
          </a:p>
          <a:p>
            <a:pPr>
              <a:lnSpc>
                <a:spcPct val="112000"/>
              </a:lnSpc>
              <a:spcAft>
                <a:spcPts val="0"/>
              </a:spcAft>
              <a:defRPr sz="1700" b="0">
                <a:solidFill>
                  <a:srgbClr val="B9C3D4"/>
                </a:solidFill>
                <a:latin typeface="Arial"/>
              </a:defRPr>
            </a:pPr>
            <a:r>
              <a:t>Support inbox and AI knowledge</a:t>
            </a:r>
          </a:p>
          <a:p>
            <a:pPr>
              <a:lnSpc>
                <a:spcPct val="112000"/>
              </a:lnSpc>
              <a:spcAft>
                <a:spcPts val="0"/>
              </a:spcAft>
              <a:defRPr sz="1700" b="0">
                <a:solidFill>
                  <a:srgbClr val="B9C3D4"/>
                </a:solidFill>
                <a:latin typeface="Arial"/>
              </a:defRPr>
            </a:pPr>
            <a:r>
              <a:t>Gemini API connection settings</a:t>
            </a:r>
          </a:p>
        </p:txBody>
      </p:sp>
      <p:sp>
        <p:nvSpPr>
          <p:cNvPr id="20" name="TextBox 19"/>
          <p:cNvSpPr txBox="1"/>
          <p:nvPr/>
        </p:nvSpPr>
        <p:spPr>
          <a:xfrm>
            <a:off x="594360" y="6108192"/>
            <a:ext cx="10972800" cy="182880"/>
          </a:xfrm>
          <a:prstGeom prst="rect">
            <a:avLst/>
          </a:prstGeom>
          <a:noFill/>
        </p:spPr>
        <p:txBody>
          <a:bodyPr wrap="none" lIns="0" rIns="0" tIns="0" bIns="0">
            <a:spAutoFit/>
          </a:bodyPr>
          <a:lstStyle/>
          <a:p>
            <a:pPr>
              <a:lnSpc>
                <a:spcPct val="112000"/>
              </a:lnSpc>
              <a:spcAft>
                <a:spcPts val="0"/>
              </a:spcAft>
              <a:defRPr sz="800" b="0">
                <a:solidFill>
                  <a:srgbClr val="B9C3D4"/>
                </a:solidFill>
                <a:latin typeface="Arial"/>
              </a:defRPr>
            </a:pPr>
            <a:r>
              <a:t>AI REPLIES REQUIRE AN AVAILABLE, CONFIGURED GEMINI CONNECTION.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5486400" cy="256032"/>
          </a:xfrm>
          <a:prstGeom prst="rect">
            <a:avLst/>
          </a:prstGeom>
          <a:noFill/>
        </p:spPr>
        <p:txBody>
          <a:bodyPr wrap="none" lIns="0" rIns="0" tIns="0" bIns="0">
            <a:spAutoFit/>
          </a:bodyPr>
          <a:lstStyle/>
          <a:p>
            <a:pPr>
              <a:lnSpc>
                <a:spcPct val="112000"/>
              </a:lnSpc>
              <a:spcAft>
                <a:spcPts val="0"/>
              </a:spcAft>
              <a:defRPr sz="1600" b="1">
                <a:solidFill>
                  <a:srgbClr val="F5F7FB"/>
                </a:solidFill>
                <a:latin typeface="Arial"/>
              </a:defRPr>
            </a:pPr>
            <a:r>
              <a:t>ServeOS</a:t>
            </a:r>
          </a:p>
        </p:txBody>
      </p:sp>
      <p:sp>
        <p:nvSpPr>
          <p:cNvPr id="4" name="TextBox 3"/>
          <p:cNvSpPr txBox="1"/>
          <p:nvPr/>
        </p:nvSpPr>
        <p:spPr>
          <a:xfrm>
            <a:off x="594360" y="6382512"/>
            <a:ext cx="9144000" cy="182880"/>
          </a:xfrm>
          <a:prstGeom prst="rect">
            <a:avLst/>
          </a:prstGeom>
          <a:noFill/>
        </p:spPr>
        <p:txBody>
          <a:bodyPr wrap="none" lIns="0" rIns="0" tIns="0" bIns="0">
            <a:spAutoFit/>
          </a:bodyPr>
          <a:lstStyle/>
          <a:p>
            <a:pPr>
              <a:lnSpc>
                <a:spcPct val="112000"/>
              </a:lnSpc>
              <a:spcAft>
                <a:spcPts val="0"/>
              </a:spcAft>
              <a:defRPr sz="800" b="0">
                <a:solidFill>
                  <a:srgbClr val="B9C3D4"/>
                </a:solidFill>
                <a:latin typeface="Arial"/>
              </a:defRPr>
            </a:pPr>
            <a:r>
              <a:t>PRODUCT BRIEF  /  14 OCT 2026</a:t>
            </a:r>
          </a:p>
        </p:txBody>
      </p:sp>
      <p:sp>
        <p:nvSpPr>
          <p:cNvPr id="5" name="TextBox 4"/>
          <p:cNvSpPr txBox="1"/>
          <p:nvPr/>
        </p:nvSpPr>
        <p:spPr>
          <a:xfrm>
            <a:off x="10972800" y="6382512"/>
            <a:ext cx="640080" cy="182880"/>
          </a:xfrm>
          <a:prstGeom prst="rect">
            <a:avLst/>
          </a:prstGeom>
          <a:noFill/>
        </p:spPr>
        <p:txBody>
          <a:bodyPr wrap="none" lIns="0" rIns="0" tIns="0" bIns="0">
            <a:spAutoFit/>
          </a:bodyPr>
          <a:lstStyle/>
          <a:p>
            <a:pPr>
              <a:lnSpc>
                <a:spcPct val="112000"/>
              </a:lnSpc>
              <a:spcAft>
                <a:spcPts val="0"/>
              </a:spcAft>
              <a:defRPr sz="800" b="0">
                <a:solidFill>
                  <a:srgbClr val="B9C3D4"/>
                </a:solidFill>
                <a:latin typeface="Arial"/>
              </a:defRPr>
            </a:pPr>
            <a:r>
              <a:t>06 / 07</a:t>
            </a:r>
          </a:p>
        </p:txBody>
      </p:sp>
      <p:sp>
        <p:nvSpPr>
          <p:cNvPr id="6" name="Rectangle 5"/>
          <p:cNvSpPr/>
          <p:nvPr/>
        </p:nvSpPr>
        <p:spPr>
          <a:xfrm>
            <a:off x="594360" y="786384"/>
            <a:ext cx="411480" cy="32004"/>
          </a:xfrm>
          <a:prstGeom prst="rect">
            <a:avLst/>
          </a:prstGeom>
          <a:solidFill>
            <a:srgbClr val="FFB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05840"/>
            <a:ext cx="10058400" cy="228600"/>
          </a:xfrm>
          <a:prstGeom prst="rect">
            <a:avLst/>
          </a:prstGeom>
          <a:noFill/>
        </p:spPr>
        <p:txBody>
          <a:bodyPr wrap="none" lIns="0" rIns="0" tIns="0" bIns="0">
            <a:spAutoFit/>
          </a:bodyPr>
          <a:lstStyle/>
          <a:p>
            <a:pPr>
              <a:lnSpc>
                <a:spcPct val="112000"/>
              </a:lnSpc>
              <a:spcAft>
                <a:spcPts val="0"/>
              </a:spcAft>
              <a:defRPr sz="1000" b="1">
                <a:solidFill>
                  <a:srgbClr val="FFB021"/>
                </a:solidFill>
                <a:latin typeface="Arial"/>
              </a:defRPr>
            </a:pPr>
            <a:r>
              <a:t>PACKAGES</a:t>
            </a:r>
          </a:p>
        </p:txBody>
      </p:sp>
      <p:sp>
        <p:nvSpPr>
          <p:cNvPr id="8" name="TextBox 7"/>
          <p:cNvSpPr txBox="1"/>
          <p:nvPr/>
        </p:nvSpPr>
        <p:spPr>
          <a:xfrm>
            <a:off x="594360" y="1417320"/>
            <a:ext cx="10972800" cy="694944"/>
          </a:xfrm>
          <a:prstGeom prst="rect">
            <a:avLst/>
          </a:prstGeom>
          <a:noFill/>
        </p:spPr>
        <p:txBody>
          <a:bodyPr wrap="none" lIns="0" rIns="0" tIns="0" bIns="0">
            <a:spAutoFit/>
          </a:bodyPr>
          <a:lstStyle/>
          <a:p>
            <a:pPr>
              <a:lnSpc>
                <a:spcPct val="112000"/>
              </a:lnSpc>
              <a:spcAft>
                <a:spcPts val="0"/>
              </a:spcAft>
              <a:defRPr sz="3200" b="1">
                <a:solidFill>
                  <a:srgbClr val="F5F7FB"/>
                </a:solidFill>
                <a:latin typeface="Arial"/>
              </a:defRPr>
            </a:pPr>
            <a:r>
              <a:t>Start free. Choose the term that fits.</a:t>
            </a:r>
          </a:p>
        </p:txBody>
      </p:sp>
      <p:sp>
        <p:nvSpPr>
          <p:cNvPr id="9" name="TextBox 8"/>
          <p:cNvSpPr txBox="1"/>
          <p:nvPr/>
        </p:nvSpPr>
        <p:spPr>
          <a:xfrm>
            <a:off x="594360" y="2121408"/>
            <a:ext cx="10972800" cy="457200"/>
          </a:xfrm>
          <a:prstGeom prst="rect">
            <a:avLst/>
          </a:prstGeom>
          <a:noFill/>
        </p:spPr>
        <p:txBody>
          <a:bodyPr wrap="none" lIns="0" rIns="0" tIns="0" bIns="0">
            <a:spAutoFit/>
          </a:bodyPr>
          <a:lstStyle/>
          <a:p>
            <a:pPr>
              <a:lnSpc>
                <a:spcPct val="112000"/>
              </a:lnSpc>
              <a:spcAft>
                <a:spcPts val="0"/>
              </a:spcAft>
              <a:defRPr sz="1600" b="0">
                <a:solidFill>
                  <a:srgbClr val="B9C3D4"/>
                </a:solidFill>
                <a:latin typeface="Arial"/>
              </a:defRPr>
            </a:pPr>
            <a:r>
              <a:t>Current platform package prices in Bangladeshi taka (BDT).</a:t>
            </a:r>
          </a:p>
        </p:txBody>
      </p:sp>
      <p:sp>
        <p:nvSpPr>
          <p:cNvPr id="10" name="Rounded Rectangle 9"/>
          <p:cNvSpPr/>
          <p:nvPr/>
        </p:nvSpPr>
        <p:spPr>
          <a:xfrm>
            <a:off x="594360" y="2788920"/>
            <a:ext cx="11009376" cy="557784"/>
          </a:xfrm>
          <a:prstGeom prst="roundRect">
            <a:avLst>
              <a:gd name="adj" fmla="val 12000"/>
            </a:avLst>
          </a:prstGeom>
          <a:solidFill>
            <a:srgbClr val="FFB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7824" y="2944368"/>
            <a:ext cx="10607040" cy="265176"/>
          </a:xfrm>
          <a:prstGeom prst="rect">
            <a:avLst/>
          </a:prstGeom>
          <a:noFill/>
        </p:spPr>
        <p:txBody>
          <a:bodyPr wrap="none" lIns="0" rIns="0" tIns="0" bIns="0">
            <a:spAutoFit/>
          </a:bodyPr>
          <a:lstStyle/>
          <a:p>
            <a:pPr>
              <a:lnSpc>
                <a:spcPct val="112000"/>
              </a:lnSpc>
              <a:spcAft>
                <a:spcPts val="0"/>
              </a:spcAft>
              <a:defRPr sz="1700" b="1">
                <a:solidFill>
                  <a:srgbClr val="0D1424"/>
                </a:solidFill>
                <a:latin typeface="Arial"/>
              </a:defRPr>
            </a:pPr>
            <a:r>
              <a:t>7-DAY FREE TRIAL   /   New restaurants   /   No automatic charge</a:t>
            </a:r>
          </a:p>
        </p:txBody>
      </p:sp>
      <p:sp>
        <p:nvSpPr>
          <p:cNvPr id="12" name="Rounded Rectangle 11"/>
          <p:cNvSpPr/>
          <p:nvPr/>
        </p:nvSpPr>
        <p:spPr>
          <a:xfrm>
            <a:off x="594360" y="3630168"/>
            <a:ext cx="2596896" cy="2322576"/>
          </a:xfrm>
          <a:prstGeom prst="roundRect">
            <a:avLst>
              <a:gd name="adj" fmla="val 12000"/>
            </a:avLst>
          </a:prstGeom>
          <a:solidFill>
            <a:srgbClr val="18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95528" y="3877056"/>
            <a:ext cx="2194560" cy="274320"/>
          </a:xfrm>
          <a:prstGeom prst="rect">
            <a:avLst/>
          </a:prstGeom>
          <a:noFill/>
        </p:spPr>
        <p:txBody>
          <a:bodyPr wrap="none" lIns="0" rIns="0" tIns="0" bIns="0">
            <a:spAutoFit/>
          </a:bodyPr>
          <a:lstStyle/>
          <a:p>
            <a:pPr>
              <a:lnSpc>
                <a:spcPct val="112000"/>
              </a:lnSpc>
              <a:spcAft>
                <a:spcPts val="0"/>
              </a:spcAft>
              <a:defRPr sz="1200" b="1">
                <a:solidFill>
                  <a:srgbClr val="FFB021"/>
                </a:solidFill>
                <a:latin typeface="Arial"/>
              </a:defRPr>
            </a:pPr>
            <a:r>
              <a:t>MONTHLY</a:t>
            </a:r>
          </a:p>
        </p:txBody>
      </p:sp>
      <p:sp>
        <p:nvSpPr>
          <p:cNvPr id="14" name="TextBox 13"/>
          <p:cNvSpPr txBox="1"/>
          <p:nvPr/>
        </p:nvSpPr>
        <p:spPr>
          <a:xfrm>
            <a:off x="795528" y="4489704"/>
            <a:ext cx="2194560" cy="548640"/>
          </a:xfrm>
          <a:prstGeom prst="rect">
            <a:avLst/>
          </a:prstGeom>
          <a:noFill/>
        </p:spPr>
        <p:txBody>
          <a:bodyPr wrap="none" lIns="0" rIns="0" tIns="0" bIns="0">
            <a:spAutoFit/>
          </a:bodyPr>
          <a:lstStyle/>
          <a:p>
            <a:pPr>
              <a:lnSpc>
                <a:spcPct val="112000"/>
              </a:lnSpc>
              <a:spcAft>
                <a:spcPts val="0"/>
              </a:spcAft>
              <a:defRPr sz="3300" b="1">
                <a:solidFill>
                  <a:srgbClr val="F5F7FB"/>
                </a:solidFill>
                <a:latin typeface="Arial"/>
              </a:defRPr>
            </a:pPr>
            <a:r>
              <a:t>349</a:t>
            </a:r>
          </a:p>
        </p:txBody>
      </p:sp>
      <p:sp>
        <p:nvSpPr>
          <p:cNvPr id="15" name="TextBox 14"/>
          <p:cNvSpPr txBox="1"/>
          <p:nvPr/>
        </p:nvSpPr>
        <p:spPr>
          <a:xfrm>
            <a:off x="795528" y="5120640"/>
            <a:ext cx="2194560" cy="274320"/>
          </a:xfrm>
          <a:prstGeom prst="rect">
            <a:avLst/>
          </a:prstGeom>
          <a:noFill/>
        </p:spPr>
        <p:txBody>
          <a:bodyPr wrap="none" lIns="0" rIns="0" tIns="0" bIns="0">
            <a:spAutoFit/>
          </a:bodyPr>
          <a:lstStyle/>
          <a:p>
            <a:pPr>
              <a:lnSpc>
                <a:spcPct val="112000"/>
              </a:lnSpc>
              <a:spcAft>
                <a:spcPts val="0"/>
              </a:spcAft>
              <a:defRPr sz="1200" b="0">
                <a:solidFill>
                  <a:srgbClr val="B9C3D4"/>
                </a:solidFill>
                <a:latin typeface="Arial"/>
              </a:defRPr>
            </a:pPr>
            <a:r>
              <a:t>BDT total / 1 month</a:t>
            </a:r>
          </a:p>
        </p:txBody>
      </p:sp>
      <p:sp>
        <p:nvSpPr>
          <p:cNvPr id="16" name="TextBox 15"/>
          <p:cNvSpPr txBox="1"/>
          <p:nvPr/>
        </p:nvSpPr>
        <p:spPr>
          <a:xfrm>
            <a:off x="795528" y="5541264"/>
            <a:ext cx="2194560" cy="256032"/>
          </a:xfrm>
          <a:prstGeom prst="rect">
            <a:avLst/>
          </a:prstGeom>
          <a:noFill/>
        </p:spPr>
        <p:txBody>
          <a:bodyPr wrap="none" lIns="0" rIns="0" tIns="0" bIns="0">
            <a:spAutoFit/>
          </a:bodyPr>
          <a:lstStyle/>
          <a:p>
            <a:pPr>
              <a:lnSpc>
                <a:spcPct val="112000"/>
              </a:lnSpc>
              <a:spcAft>
                <a:spcPts val="0"/>
              </a:spcAft>
              <a:defRPr sz="1100" b="0">
                <a:solidFill>
                  <a:srgbClr val="B9C3D4"/>
                </a:solidFill>
                <a:latin typeface="Arial"/>
              </a:defRPr>
            </a:pPr>
            <a:r>
              <a:t>Try the platform</a:t>
            </a:r>
          </a:p>
        </p:txBody>
      </p:sp>
      <p:sp>
        <p:nvSpPr>
          <p:cNvPr id="17" name="Rounded Rectangle 16"/>
          <p:cNvSpPr/>
          <p:nvPr/>
        </p:nvSpPr>
        <p:spPr>
          <a:xfrm>
            <a:off x="3401568" y="3630168"/>
            <a:ext cx="2596896" cy="2322576"/>
          </a:xfrm>
          <a:prstGeom prst="roundRect">
            <a:avLst>
              <a:gd name="adj" fmla="val 12000"/>
            </a:avLst>
          </a:prstGeom>
          <a:solidFill>
            <a:srgbClr val="18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602736" y="3877056"/>
            <a:ext cx="2194560" cy="274320"/>
          </a:xfrm>
          <a:prstGeom prst="rect">
            <a:avLst/>
          </a:prstGeom>
          <a:noFill/>
        </p:spPr>
        <p:txBody>
          <a:bodyPr wrap="none" lIns="0" rIns="0" tIns="0" bIns="0">
            <a:spAutoFit/>
          </a:bodyPr>
          <a:lstStyle/>
          <a:p>
            <a:pPr>
              <a:lnSpc>
                <a:spcPct val="112000"/>
              </a:lnSpc>
              <a:spcAft>
                <a:spcPts val="0"/>
              </a:spcAft>
              <a:defRPr sz="1200" b="1">
                <a:solidFill>
                  <a:srgbClr val="FFB021"/>
                </a:solidFill>
                <a:latin typeface="Arial"/>
              </a:defRPr>
            </a:pPr>
            <a:r>
              <a:t>3 MONTHS</a:t>
            </a:r>
          </a:p>
        </p:txBody>
      </p:sp>
      <p:sp>
        <p:nvSpPr>
          <p:cNvPr id="19" name="TextBox 18"/>
          <p:cNvSpPr txBox="1"/>
          <p:nvPr/>
        </p:nvSpPr>
        <p:spPr>
          <a:xfrm>
            <a:off x="3602736" y="4489704"/>
            <a:ext cx="2194560" cy="548640"/>
          </a:xfrm>
          <a:prstGeom prst="rect">
            <a:avLst/>
          </a:prstGeom>
          <a:noFill/>
        </p:spPr>
        <p:txBody>
          <a:bodyPr wrap="none" lIns="0" rIns="0" tIns="0" bIns="0">
            <a:spAutoFit/>
          </a:bodyPr>
          <a:lstStyle/>
          <a:p>
            <a:pPr>
              <a:lnSpc>
                <a:spcPct val="112000"/>
              </a:lnSpc>
              <a:spcAft>
                <a:spcPts val="0"/>
              </a:spcAft>
              <a:defRPr sz="3300" b="1">
                <a:solidFill>
                  <a:srgbClr val="F5F7FB"/>
                </a:solidFill>
                <a:latin typeface="Arial"/>
              </a:defRPr>
            </a:pPr>
            <a:r>
              <a:t>944</a:t>
            </a:r>
          </a:p>
        </p:txBody>
      </p:sp>
      <p:sp>
        <p:nvSpPr>
          <p:cNvPr id="20" name="TextBox 19"/>
          <p:cNvSpPr txBox="1"/>
          <p:nvPr/>
        </p:nvSpPr>
        <p:spPr>
          <a:xfrm>
            <a:off x="3602736" y="5120640"/>
            <a:ext cx="2194560" cy="274320"/>
          </a:xfrm>
          <a:prstGeom prst="rect">
            <a:avLst/>
          </a:prstGeom>
          <a:noFill/>
        </p:spPr>
        <p:txBody>
          <a:bodyPr wrap="none" lIns="0" rIns="0" tIns="0" bIns="0">
            <a:spAutoFit/>
          </a:bodyPr>
          <a:lstStyle/>
          <a:p>
            <a:pPr>
              <a:lnSpc>
                <a:spcPct val="112000"/>
              </a:lnSpc>
              <a:spcAft>
                <a:spcPts val="0"/>
              </a:spcAft>
              <a:defRPr sz="1200" b="0">
                <a:solidFill>
                  <a:srgbClr val="B9C3D4"/>
                </a:solidFill>
                <a:latin typeface="Arial"/>
              </a:defRPr>
            </a:pPr>
            <a:r>
              <a:t>BDT total / 3 months</a:t>
            </a:r>
          </a:p>
        </p:txBody>
      </p:sp>
      <p:sp>
        <p:nvSpPr>
          <p:cNvPr id="21" name="TextBox 20"/>
          <p:cNvSpPr txBox="1"/>
          <p:nvPr/>
        </p:nvSpPr>
        <p:spPr>
          <a:xfrm>
            <a:off x="3602736" y="5541264"/>
            <a:ext cx="2194560" cy="256032"/>
          </a:xfrm>
          <a:prstGeom prst="rect">
            <a:avLst/>
          </a:prstGeom>
          <a:noFill/>
        </p:spPr>
        <p:txBody>
          <a:bodyPr wrap="none" lIns="0" rIns="0" tIns="0" bIns="0">
            <a:spAutoFit/>
          </a:bodyPr>
          <a:lstStyle/>
          <a:p>
            <a:pPr>
              <a:lnSpc>
                <a:spcPct val="112000"/>
              </a:lnSpc>
              <a:spcAft>
                <a:spcPts val="0"/>
              </a:spcAft>
              <a:defRPr sz="1100" b="0">
                <a:solidFill>
                  <a:srgbClr val="B9C3D4"/>
                </a:solidFill>
                <a:latin typeface="Arial"/>
              </a:defRPr>
            </a:pPr>
            <a:r>
              <a:t>Most popular</a:t>
            </a:r>
          </a:p>
        </p:txBody>
      </p:sp>
      <p:sp>
        <p:nvSpPr>
          <p:cNvPr id="22" name="Rounded Rectangle 21"/>
          <p:cNvSpPr/>
          <p:nvPr/>
        </p:nvSpPr>
        <p:spPr>
          <a:xfrm>
            <a:off x="6208776" y="3630168"/>
            <a:ext cx="2596896" cy="2322576"/>
          </a:xfrm>
          <a:prstGeom prst="roundRect">
            <a:avLst>
              <a:gd name="adj" fmla="val 12000"/>
            </a:avLst>
          </a:prstGeom>
          <a:solidFill>
            <a:srgbClr val="18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9944" y="3877056"/>
            <a:ext cx="2194560" cy="274320"/>
          </a:xfrm>
          <a:prstGeom prst="rect">
            <a:avLst/>
          </a:prstGeom>
          <a:noFill/>
        </p:spPr>
        <p:txBody>
          <a:bodyPr wrap="none" lIns="0" rIns="0" tIns="0" bIns="0">
            <a:spAutoFit/>
          </a:bodyPr>
          <a:lstStyle/>
          <a:p>
            <a:pPr>
              <a:lnSpc>
                <a:spcPct val="112000"/>
              </a:lnSpc>
              <a:spcAft>
                <a:spcPts val="0"/>
              </a:spcAft>
              <a:defRPr sz="1200" b="1">
                <a:solidFill>
                  <a:srgbClr val="FFB021"/>
                </a:solidFill>
                <a:latin typeface="Arial"/>
              </a:defRPr>
            </a:pPr>
            <a:r>
              <a:t>6 MONTHS</a:t>
            </a:r>
          </a:p>
        </p:txBody>
      </p:sp>
      <p:sp>
        <p:nvSpPr>
          <p:cNvPr id="24" name="TextBox 23"/>
          <p:cNvSpPr txBox="1"/>
          <p:nvPr/>
        </p:nvSpPr>
        <p:spPr>
          <a:xfrm>
            <a:off x="6409944" y="4489704"/>
            <a:ext cx="2194560" cy="548640"/>
          </a:xfrm>
          <a:prstGeom prst="rect">
            <a:avLst/>
          </a:prstGeom>
          <a:noFill/>
        </p:spPr>
        <p:txBody>
          <a:bodyPr wrap="none" lIns="0" rIns="0" tIns="0" bIns="0">
            <a:spAutoFit/>
          </a:bodyPr>
          <a:lstStyle/>
          <a:p>
            <a:pPr>
              <a:lnSpc>
                <a:spcPct val="112000"/>
              </a:lnSpc>
              <a:spcAft>
                <a:spcPts val="0"/>
              </a:spcAft>
              <a:defRPr sz="3300" b="1">
                <a:solidFill>
                  <a:srgbClr val="F5F7FB"/>
                </a:solidFill>
                <a:latin typeface="Arial"/>
              </a:defRPr>
            </a:pPr>
            <a:r>
              <a:t>1,444</a:t>
            </a:r>
          </a:p>
        </p:txBody>
      </p:sp>
      <p:sp>
        <p:nvSpPr>
          <p:cNvPr id="25" name="TextBox 24"/>
          <p:cNvSpPr txBox="1"/>
          <p:nvPr/>
        </p:nvSpPr>
        <p:spPr>
          <a:xfrm>
            <a:off x="6409944" y="5120640"/>
            <a:ext cx="2194560" cy="274320"/>
          </a:xfrm>
          <a:prstGeom prst="rect">
            <a:avLst/>
          </a:prstGeom>
          <a:noFill/>
        </p:spPr>
        <p:txBody>
          <a:bodyPr wrap="none" lIns="0" rIns="0" tIns="0" bIns="0">
            <a:spAutoFit/>
          </a:bodyPr>
          <a:lstStyle/>
          <a:p>
            <a:pPr>
              <a:lnSpc>
                <a:spcPct val="112000"/>
              </a:lnSpc>
              <a:spcAft>
                <a:spcPts val="0"/>
              </a:spcAft>
              <a:defRPr sz="1200" b="0">
                <a:solidFill>
                  <a:srgbClr val="B9C3D4"/>
                </a:solidFill>
                <a:latin typeface="Arial"/>
              </a:defRPr>
            </a:pPr>
            <a:r>
              <a:t>BDT total / 6 months</a:t>
            </a:r>
          </a:p>
        </p:txBody>
      </p:sp>
      <p:sp>
        <p:nvSpPr>
          <p:cNvPr id="26" name="TextBox 25"/>
          <p:cNvSpPr txBox="1"/>
          <p:nvPr/>
        </p:nvSpPr>
        <p:spPr>
          <a:xfrm>
            <a:off x="6409944" y="5541264"/>
            <a:ext cx="2194560" cy="256032"/>
          </a:xfrm>
          <a:prstGeom prst="rect">
            <a:avLst/>
          </a:prstGeom>
          <a:noFill/>
        </p:spPr>
        <p:txBody>
          <a:bodyPr wrap="none" lIns="0" rIns="0" tIns="0" bIns="0">
            <a:spAutoFit/>
          </a:bodyPr>
          <a:lstStyle/>
          <a:p>
            <a:pPr>
              <a:lnSpc>
                <a:spcPct val="112000"/>
              </a:lnSpc>
              <a:spcAft>
                <a:spcPts val="0"/>
              </a:spcAft>
              <a:defRPr sz="1100" b="0">
                <a:solidFill>
                  <a:srgbClr val="B9C3D4"/>
                </a:solidFill>
                <a:latin typeface="Arial"/>
              </a:defRPr>
            </a:pPr>
            <a:r>
              <a:t>Longer commitment</a:t>
            </a:r>
          </a:p>
        </p:txBody>
      </p:sp>
      <p:sp>
        <p:nvSpPr>
          <p:cNvPr id="27" name="Rounded Rectangle 26"/>
          <p:cNvSpPr/>
          <p:nvPr/>
        </p:nvSpPr>
        <p:spPr>
          <a:xfrm>
            <a:off x="9015984" y="3630168"/>
            <a:ext cx="2596896" cy="2322576"/>
          </a:xfrm>
          <a:prstGeom prst="roundRect">
            <a:avLst>
              <a:gd name="adj" fmla="val 12000"/>
            </a:avLst>
          </a:prstGeom>
          <a:solidFill>
            <a:srgbClr val="18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217152" y="3877056"/>
            <a:ext cx="2194560" cy="274320"/>
          </a:xfrm>
          <a:prstGeom prst="rect">
            <a:avLst/>
          </a:prstGeom>
          <a:noFill/>
        </p:spPr>
        <p:txBody>
          <a:bodyPr wrap="none" lIns="0" rIns="0" tIns="0" bIns="0">
            <a:spAutoFit/>
          </a:bodyPr>
          <a:lstStyle/>
          <a:p>
            <a:pPr>
              <a:lnSpc>
                <a:spcPct val="112000"/>
              </a:lnSpc>
              <a:spcAft>
                <a:spcPts val="0"/>
              </a:spcAft>
              <a:defRPr sz="1200" b="1">
                <a:solidFill>
                  <a:srgbClr val="FFB021"/>
                </a:solidFill>
                <a:latin typeface="Arial"/>
              </a:defRPr>
            </a:pPr>
            <a:r>
              <a:t>YEARLY</a:t>
            </a:r>
          </a:p>
        </p:txBody>
      </p:sp>
      <p:sp>
        <p:nvSpPr>
          <p:cNvPr id="29" name="TextBox 28"/>
          <p:cNvSpPr txBox="1"/>
          <p:nvPr/>
        </p:nvSpPr>
        <p:spPr>
          <a:xfrm>
            <a:off x="9217152" y="4489704"/>
            <a:ext cx="2194560" cy="548640"/>
          </a:xfrm>
          <a:prstGeom prst="rect">
            <a:avLst/>
          </a:prstGeom>
          <a:noFill/>
        </p:spPr>
        <p:txBody>
          <a:bodyPr wrap="none" lIns="0" rIns="0" tIns="0" bIns="0">
            <a:spAutoFit/>
          </a:bodyPr>
          <a:lstStyle/>
          <a:p>
            <a:pPr>
              <a:lnSpc>
                <a:spcPct val="112000"/>
              </a:lnSpc>
              <a:spcAft>
                <a:spcPts val="0"/>
              </a:spcAft>
              <a:defRPr sz="3300" b="1">
                <a:solidFill>
                  <a:srgbClr val="F5F7FB"/>
                </a:solidFill>
                <a:latin typeface="Arial"/>
              </a:defRPr>
            </a:pPr>
            <a:r>
              <a:t>2,197</a:t>
            </a:r>
          </a:p>
        </p:txBody>
      </p:sp>
      <p:sp>
        <p:nvSpPr>
          <p:cNvPr id="30" name="TextBox 29"/>
          <p:cNvSpPr txBox="1"/>
          <p:nvPr/>
        </p:nvSpPr>
        <p:spPr>
          <a:xfrm>
            <a:off x="9217152" y="5120640"/>
            <a:ext cx="2194560" cy="274320"/>
          </a:xfrm>
          <a:prstGeom prst="rect">
            <a:avLst/>
          </a:prstGeom>
          <a:noFill/>
        </p:spPr>
        <p:txBody>
          <a:bodyPr wrap="none" lIns="0" rIns="0" tIns="0" bIns="0">
            <a:spAutoFit/>
          </a:bodyPr>
          <a:lstStyle/>
          <a:p>
            <a:pPr>
              <a:lnSpc>
                <a:spcPct val="112000"/>
              </a:lnSpc>
              <a:spcAft>
                <a:spcPts val="0"/>
              </a:spcAft>
              <a:defRPr sz="1200" b="0">
                <a:solidFill>
                  <a:srgbClr val="B9C3D4"/>
                </a:solidFill>
                <a:latin typeface="Arial"/>
              </a:defRPr>
            </a:pPr>
            <a:r>
              <a:t>BDT total / 12 months</a:t>
            </a:r>
          </a:p>
        </p:txBody>
      </p:sp>
      <p:sp>
        <p:nvSpPr>
          <p:cNvPr id="31" name="TextBox 30"/>
          <p:cNvSpPr txBox="1"/>
          <p:nvPr/>
        </p:nvSpPr>
        <p:spPr>
          <a:xfrm>
            <a:off x="9217152" y="5541264"/>
            <a:ext cx="2194560" cy="256032"/>
          </a:xfrm>
          <a:prstGeom prst="rect">
            <a:avLst/>
          </a:prstGeom>
          <a:noFill/>
        </p:spPr>
        <p:txBody>
          <a:bodyPr wrap="none" lIns="0" rIns="0" tIns="0" bIns="0">
            <a:spAutoFit/>
          </a:bodyPr>
          <a:lstStyle/>
          <a:p>
            <a:pPr>
              <a:lnSpc>
                <a:spcPct val="112000"/>
              </a:lnSpc>
              <a:spcAft>
                <a:spcPts val="0"/>
              </a:spcAft>
              <a:defRPr sz="1100" b="0">
                <a:solidFill>
                  <a:srgbClr val="B9C3D4"/>
                </a:solidFill>
                <a:latin typeface="Arial"/>
              </a:defRPr>
            </a:pPr>
            <a:r>
              <a:t>Best value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9184"/>
            <a:ext cx="5486400" cy="256032"/>
          </a:xfrm>
          <a:prstGeom prst="rect">
            <a:avLst/>
          </a:prstGeom>
          <a:noFill/>
        </p:spPr>
        <p:txBody>
          <a:bodyPr wrap="none" lIns="0" rIns="0" tIns="0" bIns="0">
            <a:spAutoFit/>
          </a:bodyPr>
          <a:lstStyle/>
          <a:p>
            <a:pPr>
              <a:lnSpc>
                <a:spcPct val="112000"/>
              </a:lnSpc>
              <a:spcAft>
                <a:spcPts val="0"/>
              </a:spcAft>
              <a:defRPr sz="1600" b="1">
                <a:solidFill>
                  <a:srgbClr val="F5F7FB"/>
                </a:solidFill>
                <a:latin typeface="Arial"/>
              </a:defRPr>
            </a:pPr>
            <a:r>
              <a:t>ServeOS</a:t>
            </a:r>
          </a:p>
        </p:txBody>
      </p:sp>
      <p:sp>
        <p:nvSpPr>
          <p:cNvPr id="4" name="TextBox 3"/>
          <p:cNvSpPr txBox="1"/>
          <p:nvPr/>
        </p:nvSpPr>
        <p:spPr>
          <a:xfrm>
            <a:off x="594360" y="6382512"/>
            <a:ext cx="9144000" cy="182880"/>
          </a:xfrm>
          <a:prstGeom prst="rect">
            <a:avLst/>
          </a:prstGeom>
          <a:noFill/>
        </p:spPr>
        <p:txBody>
          <a:bodyPr wrap="none" lIns="0" rIns="0" tIns="0" bIns="0">
            <a:spAutoFit/>
          </a:bodyPr>
          <a:lstStyle/>
          <a:p>
            <a:pPr>
              <a:lnSpc>
                <a:spcPct val="112000"/>
              </a:lnSpc>
              <a:spcAft>
                <a:spcPts val="0"/>
              </a:spcAft>
              <a:defRPr sz="800" b="0">
                <a:solidFill>
                  <a:srgbClr val="B9C3D4"/>
                </a:solidFill>
                <a:latin typeface="Arial"/>
              </a:defRPr>
            </a:pPr>
            <a:r>
              <a:t>PRODUCT BRIEF  /  14 OCT 2026</a:t>
            </a:r>
          </a:p>
        </p:txBody>
      </p:sp>
      <p:sp>
        <p:nvSpPr>
          <p:cNvPr id="5" name="TextBox 4"/>
          <p:cNvSpPr txBox="1"/>
          <p:nvPr/>
        </p:nvSpPr>
        <p:spPr>
          <a:xfrm>
            <a:off x="10972800" y="6382512"/>
            <a:ext cx="640080" cy="182880"/>
          </a:xfrm>
          <a:prstGeom prst="rect">
            <a:avLst/>
          </a:prstGeom>
          <a:noFill/>
        </p:spPr>
        <p:txBody>
          <a:bodyPr wrap="none" lIns="0" rIns="0" tIns="0" bIns="0">
            <a:spAutoFit/>
          </a:bodyPr>
          <a:lstStyle/>
          <a:p>
            <a:pPr>
              <a:lnSpc>
                <a:spcPct val="112000"/>
              </a:lnSpc>
              <a:spcAft>
                <a:spcPts val="0"/>
              </a:spcAft>
              <a:defRPr sz="800" b="0">
                <a:solidFill>
                  <a:srgbClr val="B9C3D4"/>
                </a:solidFill>
                <a:latin typeface="Arial"/>
              </a:defRPr>
            </a:pPr>
            <a:r>
              <a:t>07 / 07</a:t>
            </a:r>
          </a:p>
        </p:txBody>
      </p:sp>
      <p:sp>
        <p:nvSpPr>
          <p:cNvPr id="6" name="Rectangle 5"/>
          <p:cNvSpPr/>
          <p:nvPr/>
        </p:nvSpPr>
        <p:spPr>
          <a:xfrm>
            <a:off x="594360" y="786384"/>
            <a:ext cx="411480" cy="32004"/>
          </a:xfrm>
          <a:prstGeom prst="rect">
            <a:avLst/>
          </a:prstGeom>
          <a:solidFill>
            <a:srgbClr val="FFB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005840"/>
            <a:ext cx="10058400" cy="228600"/>
          </a:xfrm>
          <a:prstGeom prst="rect">
            <a:avLst/>
          </a:prstGeom>
          <a:noFill/>
        </p:spPr>
        <p:txBody>
          <a:bodyPr wrap="none" lIns="0" rIns="0" tIns="0" bIns="0">
            <a:spAutoFit/>
          </a:bodyPr>
          <a:lstStyle/>
          <a:p>
            <a:pPr>
              <a:lnSpc>
                <a:spcPct val="112000"/>
              </a:lnSpc>
              <a:spcAft>
                <a:spcPts val="0"/>
              </a:spcAft>
              <a:defRPr sz="1000" b="1">
                <a:solidFill>
                  <a:srgbClr val="FFB021"/>
                </a:solidFill>
                <a:latin typeface="Arial"/>
              </a:defRPr>
            </a:pPr>
            <a:r>
              <a:t>GETTING STARTED</a:t>
            </a:r>
          </a:p>
        </p:txBody>
      </p:sp>
      <p:sp>
        <p:nvSpPr>
          <p:cNvPr id="8" name="TextBox 7"/>
          <p:cNvSpPr txBox="1"/>
          <p:nvPr/>
        </p:nvSpPr>
        <p:spPr>
          <a:xfrm>
            <a:off x="594360" y="1417320"/>
            <a:ext cx="10972800" cy="694944"/>
          </a:xfrm>
          <a:prstGeom prst="rect">
            <a:avLst/>
          </a:prstGeom>
          <a:noFill/>
        </p:spPr>
        <p:txBody>
          <a:bodyPr wrap="none" lIns="0" rIns="0" tIns="0" bIns="0">
            <a:spAutoFit/>
          </a:bodyPr>
          <a:lstStyle/>
          <a:p>
            <a:pPr>
              <a:lnSpc>
                <a:spcPct val="112000"/>
              </a:lnSpc>
              <a:spcAft>
                <a:spcPts val="0"/>
              </a:spcAft>
              <a:defRPr sz="3200" b="1">
                <a:solidFill>
                  <a:srgbClr val="F5F7FB"/>
                </a:solidFill>
                <a:latin typeface="Arial"/>
              </a:defRPr>
            </a:pPr>
            <a:r>
              <a:t>From signup to your first table scan.</a:t>
            </a:r>
          </a:p>
        </p:txBody>
      </p:sp>
      <p:sp>
        <p:nvSpPr>
          <p:cNvPr id="9" name="Rounded Rectangle 8"/>
          <p:cNvSpPr/>
          <p:nvPr/>
        </p:nvSpPr>
        <p:spPr>
          <a:xfrm>
            <a:off x="594360" y="2642616"/>
            <a:ext cx="3547872" cy="2286000"/>
          </a:xfrm>
          <a:prstGeom prst="roundRect">
            <a:avLst>
              <a:gd name="adj" fmla="val 12000"/>
            </a:avLst>
          </a:prstGeom>
          <a:solidFill>
            <a:srgbClr val="18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2862072"/>
            <a:ext cx="3090672" cy="320040"/>
          </a:xfrm>
          <a:prstGeom prst="rect">
            <a:avLst/>
          </a:prstGeom>
          <a:noFill/>
        </p:spPr>
        <p:txBody>
          <a:bodyPr wrap="none" lIns="0" rIns="0" tIns="0" bIns="0">
            <a:spAutoFit/>
          </a:bodyPr>
          <a:lstStyle/>
          <a:p>
            <a:pPr>
              <a:lnSpc>
                <a:spcPct val="112000"/>
              </a:lnSpc>
              <a:spcAft>
                <a:spcPts val="0"/>
              </a:spcAft>
              <a:defRPr sz="1300" b="1">
                <a:solidFill>
                  <a:srgbClr val="FFB021"/>
                </a:solidFill>
                <a:latin typeface="Arial"/>
              </a:defRPr>
            </a:pPr>
            <a:r>
              <a:t>01</a:t>
            </a:r>
          </a:p>
        </p:txBody>
      </p:sp>
      <p:sp>
        <p:nvSpPr>
          <p:cNvPr id="11" name="TextBox 10"/>
          <p:cNvSpPr txBox="1"/>
          <p:nvPr/>
        </p:nvSpPr>
        <p:spPr>
          <a:xfrm>
            <a:off x="822960" y="3355848"/>
            <a:ext cx="3090672" cy="548640"/>
          </a:xfrm>
          <a:prstGeom prst="rect">
            <a:avLst/>
          </a:prstGeom>
          <a:noFill/>
        </p:spPr>
        <p:txBody>
          <a:bodyPr wrap="none" lIns="0" rIns="0" tIns="0" bIns="0">
            <a:spAutoFit/>
          </a:bodyPr>
          <a:lstStyle/>
          <a:p>
            <a:pPr>
              <a:lnSpc>
                <a:spcPct val="112000"/>
              </a:lnSpc>
              <a:spcAft>
                <a:spcPts val="0"/>
              </a:spcAft>
              <a:defRPr sz="2000" b="1">
                <a:solidFill>
                  <a:srgbClr val="F5F7FB"/>
                </a:solidFill>
                <a:latin typeface="Arial"/>
              </a:defRPr>
            </a:pPr>
            <a:r>
              <a:t>Create your restaurant</a:t>
            </a:r>
          </a:p>
        </p:txBody>
      </p:sp>
      <p:sp>
        <p:nvSpPr>
          <p:cNvPr id="12" name="TextBox 11"/>
          <p:cNvSpPr txBox="1"/>
          <p:nvPr/>
        </p:nvSpPr>
        <p:spPr>
          <a:xfrm>
            <a:off x="822960" y="3968496"/>
            <a:ext cx="3090672" cy="822960"/>
          </a:xfrm>
          <a:prstGeom prst="rect">
            <a:avLst/>
          </a:prstGeom>
          <a:noFill/>
        </p:spPr>
        <p:txBody>
          <a:bodyPr wrap="none" lIns="0" rIns="0" tIns="0" bIns="0">
            <a:spAutoFit/>
          </a:bodyPr>
          <a:lstStyle/>
          <a:p>
            <a:pPr>
              <a:lnSpc>
                <a:spcPct val="112000"/>
              </a:lnSpc>
              <a:spcAft>
                <a:spcPts val="0"/>
              </a:spcAft>
              <a:defRPr sz="1500" b="0">
                <a:solidFill>
                  <a:srgbClr val="B9C3D4"/>
                </a:solidFill>
                <a:latin typeface="Arial"/>
              </a:defRPr>
            </a:pPr>
            <a:r>
              <a:t>Sign up and complete</a:t>
            </a:r>
          </a:p>
          <a:p>
            <a:pPr>
              <a:lnSpc>
                <a:spcPct val="112000"/>
              </a:lnSpc>
              <a:spcAft>
                <a:spcPts val="0"/>
              </a:spcAft>
              <a:defRPr sz="1500" b="0">
                <a:solidFill>
                  <a:srgbClr val="B9C3D4"/>
                </a:solidFill>
                <a:latin typeface="Arial"/>
              </a:defRPr>
            </a:pPr>
            <a:r>
              <a:t>the restaurant details.</a:t>
            </a:r>
          </a:p>
        </p:txBody>
      </p:sp>
      <p:sp>
        <p:nvSpPr>
          <p:cNvPr id="13" name="Rounded Rectangle 12"/>
          <p:cNvSpPr/>
          <p:nvPr/>
        </p:nvSpPr>
        <p:spPr>
          <a:xfrm>
            <a:off x="4325112" y="2642616"/>
            <a:ext cx="3547872" cy="2286000"/>
          </a:xfrm>
          <a:prstGeom prst="roundRect">
            <a:avLst>
              <a:gd name="adj" fmla="val 12000"/>
            </a:avLst>
          </a:prstGeom>
          <a:solidFill>
            <a:srgbClr val="18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53712" y="2862072"/>
            <a:ext cx="3090672" cy="320040"/>
          </a:xfrm>
          <a:prstGeom prst="rect">
            <a:avLst/>
          </a:prstGeom>
          <a:noFill/>
        </p:spPr>
        <p:txBody>
          <a:bodyPr wrap="none" lIns="0" rIns="0" tIns="0" bIns="0">
            <a:spAutoFit/>
          </a:bodyPr>
          <a:lstStyle/>
          <a:p>
            <a:pPr>
              <a:lnSpc>
                <a:spcPct val="112000"/>
              </a:lnSpc>
              <a:spcAft>
                <a:spcPts val="0"/>
              </a:spcAft>
              <a:defRPr sz="1300" b="1">
                <a:solidFill>
                  <a:srgbClr val="FFB021"/>
                </a:solidFill>
                <a:latin typeface="Arial"/>
              </a:defRPr>
            </a:pPr>
            <a:r>
              <a:t>02</a:t>
            </a:r>
          </a:p>
        </p:txBody>
      </p:sp>
      <p:sp>
        <p:nvSpPr>
          <p:cNvPr id="15" name="TextBox 14"/>
          <p:cNvSpPr txBox="1"/>
          <p:nvPr/>
        </p:nvSpPr>
        <p:spPr>
          <a:xfrm>
            <a:off x="4553712" y="3355848"/>
            <a:ext cx="3090672" cy="548640"/>
          </a:xfrm>
          <a:prstGeom prst="rect">
            <a:avLst/>
          </a:prstGeom>
          <a:noFill/>
        </p:spPr>
        <p:txBody>
          <a:bodyPr wrap="none" lIns="0" rIns="0" tIns="0" bIns="0">
            <a:spAutoFit/>
          </a:bodyPr>
          <a:lstStyle/>
          <a:p>
            <a:pPr>
              <a:lnSpc>
                <a:spcPct val="112000"/>
              </a:lnSpc>
              <a:spcAft>
                <a:spcPts val="0"/>
              </a:spcAft>
              <a:defRPr sz="2000" b="1">
                <a:solidFill>
                  <a:srgbClr val="F5F7FB"/>
                </a:solidFill>
                <a:latin typeface="Arial"/>
              </a:defRPr>
            </a:pPr>
            <a:r>
              <a:t>Set up your team &amp; menu</a:t>
            </a:r>
          </a:p>
        </p:txBody>
      </p:sp>
      <p:sp>
        <p:nvSpPr>
          <p:cNvPr id="16" name="TextBox 15"/>
          <p:cNvSpPr txBox="1"/>
          <p:nvPr/>
        </p:nvSpPr>
        <p:spPr>
          <a:xfrm>
            <a:off x="4553712" y="3968496"/>
            <a:ext cx="3090672" cy="822960"/>
          </a:xfrm>
          <a:prstGeom prst="rect">
            <a:avLst/>
          </a:prstGeom>
          <a:noFill/>
        </p:spPr>
        <p:txBody>
          <a:bodyPr wrap="none" lIns="0" rIns="0" tIns="0" bIns="0">
            <a:spAutoFit/>
          </a:bodyPr>
          <a:lstStyle/>
          <a:p>
            <a:pPr>
              <a:lnSpc>
                <a:spcPct val="112000"/>
              </a:lnSpc>
              <a:spcAft>
                <a:spcPts val="0"/>
              </a:spcAft>
              <a:defRPr sz="1500" b="0">
                <a:solidFill>
                  <a:srgbClr val="B9C3D4"/>
                </a:solidFill>
                <a:latin typeface="Arial"/>
              </a:defRPr>
            </a:pPr>
            <a:r>
              <a:t>Add dishes, photos,</a:t>
            </a:r>
          </a:p>
          <a:p>
            <a:pPr>
              <a:lnSpc>
                <a:spcPct val="112000"/>
              </a:lnSpc>
              <a:spcAft>
                <a:spcPts val="0"/>
              </a:spcAft>
              <a:defRPr sz="1500" b="0">
                <a:solidFill>
                  <a:srgbClr val="B9C3D4"/>
                </a:solidFill>
                <a:latin typeface="Arial"/>
              </a:defRPr>
            </a:pPr>
            <a:r>
              <a:t>tables and staff accounts.</a:t>
            </a:r>
          </a:p>
        </p:txBody>
      </p:sp>
      <p:sp>
        <p:nvSpPr>
          <p:cNvPr id="17" name="Rounded Rectangle 16"/>
          <p:cNvSpPr/>
          <p:nvPr/>
        </p:nvSpPr>
        <p:spPr>
          <a:xfrm>
            <a:off x="8055864" y="2642616"/>
            <a:ext cx="3547872" cy="2286000"/>
          </a:xfrm>
          <a:prstGeom prst="roundRect">
            <a:avLst>
              <a:gd name="adj" fmla="val 12000"/>
            </a:avLst>
          </a:prstGeom>
          <a:solidFill>
            <a:srgbClr val="1822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84464" y="2862072"/>
            <a:ext cx="3090672" cy="320040"/>
          </a:xfrm>
          <a:prstGeom prst="rect">
            <a:avLst/>
          </a:prstGeom>
          <a:noFill/>
        </p:spPr>
        <p:txBody>
          <a:bodyPr wrap="none" lIns="0" rIns="0" tIns="0" bIns="0">
            <a:spAutoFit/>
          </a:bodyPr>
          <a:lstStyle/>
          <a:p>
            <a:pPr>
              <a:lnSpc>
                <a:spcPct val="112000"/>
              </a:lnSpc>
              <a:spcAft>
                <a:spcPts val="0"/>
              </a:spcAft>
              <a:defRPr sz="1300" b="1">
                <a:solidFill>
                  <a:srgbClr val="FFB021"/>
                </a:solidFill>
                <a:latin typeface="Arial"/>
              </a:defRPr>
            </a:pPr>
            <a:r>
              <a:t>03</a:t>
            </a:r>
          </a:p>
        </p:txBody>
      </p:sp>
      <p:sp>
        <p:nvSpPr>
          <p:cNvPr id="19" name="TextBox 18"/>
          <p:cNvSpPr txBox="1"/>
          <p:nvPr/>
        </p:nvSpPr>
        <p:spPr>
          <a:xfrm>
            <a:off x="8284464" y="3355848"/>
            <a:ext cx="3090672" cy="548640"/>
          </a:xfrm>
          <a:prstGeom prst="rect">
            <a:avLst/>
          </a:prstGeom>
          <a:noFill/>
        </p:spPr>
        <p:txBody>
          <a:bodyPr wrap="none" lIns="0" rIns="0" tIns="0" bIns="0">
            <a:spAutoFit/>
          </a:bodyPr>
          <a:lstStyle/>
          <a:p>
            <a:pPr>
              <a:lnSpc>
                <a:spcPct val="112000"/>
              </a:lnSpc>
              <a:spcAft>
                <a:spcPts val="0"/>
              </a:spcAft>
              <a:defRPr sz="2000" b="1">
                <a:solidFill>
                  <a:srgbClr val="F5F7FB"/>
                </a:solidFill>
                <a:latin typeface="Arial"/>
              </a:defRPr>
            </a:pPr>
            <a:r>
              <a:t>Share your restaurant</a:t>
            </a:r>
          </a:p>
        </p:txBody>
      </p:sp>
      <p:sp>
        <p:nvSpPr>
          <p:cNvPr id="20" name="TextBox 19"/>
          <p:cNvSpPr txBox="1"/>
          <p:nvPr/>
        </p:nvSpPr>
        <p:spPr>
          <a:xfrm>
            <a:off x="8284464" y="3968496"/>
            <a:ext cx="3090672" cy="822960"/>
          </a:xfrm>
          <a:prstGeom prst="rect">
            <a:avLst/>
          </a:prstGeom>
          <a:noFill/>
        </p:spPr>
        <p:txBody>
          <a:bodyPr wrap="none" lIns="0" rIns="0" tIns="0" bIns="0">
            <a:spAutoFit/>
          </a:bodyPr>
          <a:lstStyle/>
          <a:p>
            <a:pPr>
              <a:lnSpc>
                <a:spcPct val="112000"/>
              </a:lnSpc>
              <a:spcAft>
                <a:spcPts val="0"/>
              </a:spcAft>
              <a:defRPr sz="1500" b="0">
                <a:solidFill>
                  <a:srgbClr val="B9C3D4"/>
                </a:solidFill>
                <a:latin typeface="Arial"/>
              </a:defRPr>
            </a:pPr>
            <a:r>
              <a:t>Share the public website</a:t>
            </a:r>
          </a:p>
          <a:p>
            <a:pPr>
              <a:lnSpc>
                <a:spcPct val="112000"/>
              </a:lnSpc>
              <a:spcAft>
                <a:spcPts val="0"/>
              </a:spcAft>
              <a:defRPr sz="1500" b="0">
                <a:solidFill>
                  <a:srgbClr val="B9C3D4"/>
                </a:solidFill>
                <a:latin typeface="Arial"/>
              </a:defRPr>
            </a:pPr>
            <a:r>
              <a:t>and test your table QR links.</a:t>
            </a:r>
          </a:p>
        </p:txBody>
      </p:sp>
      <p:sp>
        <p:nvSpPr>
          <p:cNvPr id="21" name="Rounded Rectangle 20"/>
          <p:cNvSpPr/>
          <p:nvPr/>
        </p:nvSpPr>
        <p:spPr>
          <a:xfrm>
            <a:off x="594360" y="5349240"/>
            <a:ext cx="11009376" cy="658368"/>
          </a:xfrm>
          <a:prstGeom prst="roundRect">
            <a:avLst>
              <a:gd name="adj" fmla="val 12000"/>
            </a:avLst>
          </a:prstGeom>
          <a:solidFill>
            <a:srgbClr val="FFB02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96112" y="5550408"/>
            <a:ext cx="10515600" cy="310896"/>
          </a:xfrm>
          <a:prstGeom prst="rect">
            <a:avLst/>
          </a:prstGeom>
          <a:noFill/>
        </p:spPr>
        <p:txBody>
          <a:bodyPr wrap="none" lIns="0" rIns="0" tIns="0" bIns="0">
            <a:spAutoFit/>
          </a:bodyPr>
          <a:lstStyle/>
          <a:p>
            <a:pPr>
              <a:lnSpc>
                <a:spcPct val="112000"/>
              </a:lnSpc>
              <a:spcAft>
                <a:spcPts val="0"/>
              </a:spcAft>
              <a:defRPr sz="1800" b="1">
                <a:solidFill>
                  <a:srgbClr val="0D1424"/>
                </a:solidFill>
                <a:latin typeface="Arial"/>
              </a:defRPr>
            </a:pPr>
            <a:r>
              <a:t>ServeOS  /  One platform for the restaurant and the team behind it.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ServeOS — Product Brief</dc:title>
  <dc:subject>Restaurant SaaS product overview</dc:subject>
  <dc:creator>ServeOS</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